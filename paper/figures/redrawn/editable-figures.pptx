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10800" cy="792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2-architecture-000-text"/>
          <p:cNvSpPr txBox="1"/>
          <p:nvPr/>
        </p:nvSpPr>
        <p:spPr>
          <a:xfrm>
            <a:off x="2794000" y="376218"/>
            <a:ext cx="2247955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17084"/>
                </a:solidFill>
                <a:latin typeface="Arial"/>
              </a:rPr>
              <a:t>(b) Evidence sources</a:t>
            </a:r>
          </a:p>
        </p:txBody>
      </p:sp>
      <p:sp>
        <p:nvSpPr>
          <p:cNvPr id="3" name="fig2-architecture-001-box"/>
          <p:cNvSpPr/>
          <p:nvPr/>
        </p:nvSpPr>
        <p:spPr>
          <a:xfrm>
            <a:off x="2794000" y="787400"/>
            <a:ext cx="2032000" cy="1092200"/>
          </a:xfrm>
          <a:prstGeom prst="roundRect">
            <a:avLst>
              <a:gd name="adj" fmla="val 6976"/>
            </a:avLst>
          </a:prstGeom>
          <a:solidFill>
            <a:srgbClr val="EEF4FC"/>
          </a:solidFill>
          <a:ln w="20320">
            <a:solidFill>
              <a:srgbClr val="31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2-architecture-002-text"/>
          <p:cNvSpPr txBox="1"/>
          <p:nvPr/>
        </p:nvSpPr>
        <p:spPr>
          <a:xfrm>
            <a:off x="2965139" y="951172"/>
            <a:ext cx="176592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5F98"/>
                </a:solidFill>
                <a:latin typeface="Arial"/>
              </a:rPr>
              <a:t>Analyzer-native</a:t>
            </a:r>
          </a:p>
        </p:txBody>
      </p:sp>
      <p:sp>
        <p:nvSpPr>
          <p:cNvPr id="5" name="fig2-architecture-003-text"/>
          <p:cNvSpPr txBox="1"/>
          <p:nvPr/>
        </p:nvSpPr>
        <p:spPr>
          <a:xfrm>
            <a:off x="3042586" y="1294317"/>
            <a:ext cx="1611027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CFG / call graph</a:t>
            </a:r>
          </a:p>
        </p:txBody>
      </p:sp>
      <p:sp>
        <p:nvSpPr>
          <p:cNvPr id="6" name="fig2-architecture-004-text"/>
          <p:cNvSpPr txBox="1"/>
          <p:nvPr/>
        </p:nvSpPr>
        <p:spPr>
          <a:xfrm>
            <a:off x="3101055" y="1573717"/>
            <a:ext cx="1494088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Optional traces</a:t>
            </a:r>
          </a:p>
        </p:txBody>
      </p:sp>
      <p:cxnSp>
        <p:nvCxnSpPr>
          <p:cNvPr id="7" name="fig2-architecture-005-line"/>
          <p:cNvCxnSpPr/>
          <p:nvPr/>
        </p:nvCxnSpPr>
        <p:spPr>
          <a:xfrm>
            <a:off x="3810000" y="1879600"/>
            <a:ext cx="0" cy="33020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ig2-architecture-006-box"/>
          <p:cNvSpPr/>
          <p:nvPr/>
        </p:nvSpPr>
        <p:spPr>
          <a:xfrm>
            <a:off x="5283200" y="787400"/>
            <a:ext cx="2032000" cy="109220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20320">
            <a:solidFill>
              <a:srgbClr val="61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2-architecture-007-text"/>
          <p:cNvSpPr txBox="1"/>
          <p:nvPr/>
        </p:nvSpPr>
        <p:spPr>
          <a:xfrm>
            <a:off x="5473482" y="951172"/>
            <a:ext cx="172763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17084"/>
                </a:solidFill>
                <a:latin typeface="Arial"/>
              </a:rPr>
              <a:t>Source context</a:t>
            </a:r>
          </a:p>
        </p:txBody>
      </p:sp>
      <p:sp>
        <p:nvSpPr>
          <p:cNvPr id="10" name="fig2-architecture-008-text"/>
          <p:cNvSpPr txBox="1"/>
          <p:nvPr/>
        </p:nvSpPr>
        <p:spPr>
          <a:xfrm>
            <a:off x="5625409" y="1294317"/>
            <a:ext cx="1423780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Patch / source</a:t>
            </a:r>
          </a:p>
        </p:txBody>
      </p:sp>
      <p:sp>
        <p:nvSpPr>
          <p:cNvPr id="11" name="fig2-architecture-009-text"/>
          <p:cNvSpPr txBox="1"/>
          <p:nvPr/>
        </p:nvSpPr>
        <p:spPr>
          <a:xfrm>
            <a:off x="5508007" y="1573717"/>
            <a:ext cx="1658585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Bounded context</a:t>
            </a:r>
          </a:p>
        </p:txBody>
      </p:sp>
      <p:cxnSp>
        <p:nvCxnSpPr>
          <p:cNvPr id="12" name="fig2-architecture-010-line"/>
          <p:cNvCxnSpPr/>
          <p:nvPr/>
        </p:nvCxnSpPr>
        <p:spPr>
          <a:xfrm>
            <a:off x="6299200" y="1879600"/>
            <a:ext cx="0" cy="33020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ig2-architecture-011-box"/>
          <p:cNvSpPr/>
          <p:nvPr/>
        </p:nvSpPr>
        <p:spPr>
          <a:xfrm>
            <a:off x="7772400" y="787400"/>
            <a:ext cx="2133600" cy="1092200"/>
          </a:xfrm>
          <a:prstGeom prst="roundRect">
            <a:avLst>
              <a:gd name="adj" fmla="val 6976"/>
            </a:avLst>
          </a:prstGeom>
          <a:solidFill>
            <a:srgbClr val="FFF5E9"/>
          </a:solidFill>
          <a:ln w="20320">
            <a:solidFill>
              <a:srgbClr val="A66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ig2-architecture-012-text"/>
          <p:cNvSpPr txBox="1"/>
          <p:nvPr/>
        </p:nvSpPr>
        <p:spPr>
          <a:xfrm>
            <a:off x="7975587" y="951172"/>
            <a:ext cx="180342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66024"/>
                </a:solidFill>
                <a:latin typeface="Arial"/>
              </a:rPr>
              <a:t>Analyzer output</a:t>
            </a:r>
          </a:p>
        </p:txBody>
      </p:sp>
      <p:sp>
        <p:nvSpPr>
          <p:cNvPr id="15" name="fig2-architecture-013-text"/>
          <p:cNvSpPr txBox="1"/>
          <p:nvPr/>
        </p:nvSpPr>
        <p:spPr>
          <a:xfrm>
            <a:off x="8048161" y="1294317"/>
            <a:ext cx="1658276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Build diagnostics</a:t>
            </a:r>
          </a:p>
        </p:txBody>
      </p:sp>
      <p:sp>
        <p:nvSpPr>
          <p:cNvPr id="16" name="fig2-architecture-014-text"/>
          <p:cNvSpPr txBox="1"/>
          <p:nvPr/>
        </p:nvSpPr>
        <p:spPr>
          <a:xfrm>
            <a:off x="8083367" y="1573717"/>
            <a:ext cx="1587865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Paired warnings</a:t>
            </a:r>
          </a:p>
        </p:txBody>
      </p:sp>
      <p:cxnSp>
        <p:nvCxnSpPr>
          <p:cNvPr id="17" name="fig2-architecture-015-line"/>
          <p:cNvCxnSpPr/>
          <p:nvPr/>
        </p:nvCxnSpPr>
        <p:spPr>
          <a:xfrm>
            <a:off x="8839200" y="1879600"/>
            <a:ext cx="0" cy="33020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ig2-architecture-016-line"/>
          <p:cNvCxnSpPr/>
          <p:nvPr/>
        </p:nvCxnSpPr>
        <p:spPr>
          <a:xfrm>
            <a:off x="3810000" y="2209800"/>
            <a:ext cx="5029200" cy="0"/>
          </a:xfrm>
          <a:prstGeom prst="line">
            <a:avLst/>
          </a:prstGeom>
          <a:ln w="2032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ig2-architecture-017-line"/>
          <p:cNvCxnSpPr/>
          <p:nvPr/>
        </p:nvCxnSpPr>
        <p:spPr>
          <a:xfrm>
            <a:off x="3810000" y="2209800"/>
            <a:ext cx="0" cy="685800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ig2-architecture-018-text"/>
          <p:cNvSpPr txBox="1"/>
          <p:nvPr/>
        </p:nvSpPr>
        <p:spPr>
          <a:xfrm>
            <a:off x="304800" y="2382818"/>
            <a:ext cx="1047644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17084"/>
                </a:solidFill>
                <a:latin typeface="Arial"/>
              </a:rPr>
              <a:t>(a) Inputs</a:t>
            </a:r>
          </a:p>
        </p:txBody>
      </p:sp>
      <p:sp>
        <p:nvSpPr>
          <p:cNvPr id="21" name="fig2-architecture-019-text"/>
          <p:cNvSpPr txBox="1"/>
          <p:nvPr/>
        </p:nvSpPr>
        <p:spPr>
          <a:xfrm>
            <a:off x="5283200" y="2382818"/>
            <a:ext cx="1575692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17084"/>
                </a:solidFill>
                <a:latin typeface="Arial"/>
              </a:rPr>
              <a:t>(c) Refinement</a:t>
            </a:r>
          </a:p>
        </p:txBody>
      </p:sp>
      <p:sp>
        <p:nvSpPr>
          <p:cNvPr id="22" name="fig2-architecture-020-box"/>
          <p:cNvSpPr/>
          <p:nvPr/>
        </p:nvSpPr>
        <p:spPr>
          <a:xfrm>
            <a:off x="304800" y="2895600"/>
            <a:ext cx="2032000" cy="1117600"/>
          </a:xfrm>
          <a:prstGeom prst="roundRect">
            <a:avLst>
              <a:gd name="adj" fmla="val 6818"/>
            </a:avLst>
          </a:prstGeom>
          <a:solidFill>
            <a:srgbClr val="F3F5F8"/>
          </a:solidFill>
          <a:ln w="20320">
            <a:solidFill>
              <a:srgbClr val="B9C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ig2-architecture-021-text"/>
          <p:cNvSpPr txBox="1"/>
          <p:nvPr/>
        </p:nvSpPr>
        <p:spPr>
          <a:xfrm>
            <a:off x="434584" y="3059372"/>
            <a:ext cx="1848631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3448"/>
                </a:solidFill>
                <a:latin typeface="Arial"/>
              </a:rPr>
              <a:t>Checker + patch</a:t>
            </a:r>
          </a:p>
        </p:txBody>
      </p:sp>
      <p:sp>
        <p:nvSpPr>
          <p:cNvPr id="24" name="fig2-architecture-022-text"/>
          <p:cNvSpPr txBox="1"/>
          <p:nvPr/>
        </p:nvSpPr>
        <p:spPr>
          <a:xfrm>
            <a:off x="630826" y="3398818"/>
            <a:ext cx="1456146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Frozen source</a:t>
            </a:r>
          </a:p>
        </p:txBody>
      </p:sp>
      <p:sp>
        <p:nvSpPr>
          <p:cNvPr id="25" name="fig2-architecture-023-text"/>
          <p:cNvSpPr txBox="1"/>
          <p:nvPr/>
        </p:nvSpPr>
        <p:spPr>
          <a:xfrm>
            <a:off x="516762" y="3678218"/>
            <a:ext cx="1684275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V/F object scope</a:t>
            </a:r>
          </a:p>
        </p:txBody>
      </p:sp>
      <p:sp>
        <p:nvSpPr>
          <p:cNvPr id="26" name="fig2-architecture-024-box"/>
          <p:cNvSpPr/>
          <p:nvPr/>
        </p:nvSpPr>
        <p:spPr>
          <a:xfrm>
            <a:off x="2794000" y="2895600"/>
            <a:ext cx="2032000" cy="1117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0320">
            <a:solidFill>
              <a:srgbClr val="61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ig2-architecture-025-text"/>
          <p:cNvSpPr txBox="1"/>
          <p:nvPr/>
        </p:nvSpPr>
        <p:spPr>
          <a:xfrm>
            <a:off x="2901739" y="3059372"/>
            <a:ext cx="1892721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3448"/>
                </a:solidFill>
                <a:latin typeface="Arial"/>
              </a:rPr>
              <a:t>Evidence bundle</a:t>
            </a:r>
          </a:p>
        </p:txBody>
      </p:sp>
      <p:sp>
        <p:nvSpPr>
          <p:cNvPr id="28" name="fig2-architecture-026-text"/>
          <p:cNvSpPr txBox="1"/>
          <p:nvPr/>
        </p:nvSpPr>
        <p:spPr>
          <a:xfrm>
            <a:off x="3134890" y="3398818"/>
            <a:ext cx="1426418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origin + scope</a:t>
            </a:r>
          </a:p>
        </p:txBody>
      </p:sp>
      <p:sp>
        <p:nvSpPr>
          <p:cNvPr id="29" name="fig2-architecture-027-text"/>
          <p:cNvSpPr txBox="1"/>
          <p:nvPr/>
        </p:nvSpPr>
        <p:spPr>
          <a:xfrm>
            <a:off x="3035901" y="3678218"/>
            <a:ext cx="1624396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raw-output hash</a:t>
            </a:r>
          </a:p>
        </p:txBody>
      </p:sp>
      <p:sp>
        <p:nvSpPr>
          <p:cNvPr id="30" name="fig2-architecture-028-box"/>
          <p:cNvSpPr/>
          <p:nvPr/>
        </p:nvSpPr>
        <p:spPr>
          <a:xfrm>
            <a:off x="5283200" y="2895600"/>
            <a:ext cx="2032000" cy="1117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20320">
            <a:solidFill>
              <a:srgbClr val="24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ig2-architecture-029-text"/>
          <p:cNvSpPr txBox="1"/>
          <p:nvPr/>
        </p:nvSpPr>
        <p:spPr>
          <a:xfrm>
            <a:off x="5777185" y="3142481"/>
            <a:ext cx="1120229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448"/>
                </a:solidFill>
                <a:latin typeface="Arial"/>
              </a:rPr>
              <a:t>LLM edit</a:t>
            </a:r>
          </a:p>
        </p:txBody>
      </p:sp>
      <p:sp>
        <p:nvSpPr>
          <p:cNvPr id="32" name="fig2-architecture-030-text"/>
          <p:cNvSpPr txBox="1"/>
          <p:nvPr/>
        </p:nvSpPr>
        <p:spPr>
          <a:xfrm>
            <a:off x="5525101" y="3551218"/>
            <a:ext cx="1624396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Latest attempt L</a:t>
            </a:r>
          </a:p>
        </p:txBody>
      </p:sp>
      <p:sp>
        <p:nvSpPr>
          <p:cNvPr id="33" name="fig2-architecture-031-box"/>
          <p:cNvSpPr/>
          <p:nvPr/>
        </p:nvSpPr>
        <p:spPr>
          <a:xfrm>
            <a:off x="7772400" y="2895600"/>
            <a:ext cx="2133600" cy="1117600"/>
          </a:xfrm>
          <a:prstGeom prst="roundRect">
            <a:avLst>
              <a:gd name="adj" fmla="val 6818"/>
            </a:avLst>
          </a:prstGeom>
          <a:solidFill>
            <a:srgbClr val="FFF5E9"/>
          </a:solidFill>
          <a:ln w="20320">
            <a:solidFill>
              <a:srgbClr val="A66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ig2-architecture-032-text"/>
          <p:cNvSpPr txBox="1"/>
          <p:nvPr/>
        </p:nvSpPr>
        <p:spPr>
          <a:xfrm>
            <a:off x="7960113" y="3153576"/>
            <a:ext cx="1834373" cy="3820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243448"/>
                </a:solidFill>
                <a:latin typeface="Arial"/>
              </a:rPr>
              <a:t>Compile + scan</a:t>
            </a:r>
          </a:p>
        </p:txBody>
      </p:sp>
      <p:sp>
        <p:nvSpPr>
          <p:cNvPr id="35" name="fig2-architecture-033-text"/>
          <p:cNvSpPr txBox="1"/>
          <p:nvPr/>
        </p:nvSpPr>
        <p:spPr>
          <a:xfrm>
            <a:off x="8042294" y="3554917"/>
            <a:ext cx="1670011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vulnerable / fixed</a:t>
            </a:r>
          </a:p>
        </p:txBody>
      </p:sp>
      <p:cxnSp>
        <p:nvCxnSpPr>
          <p:cNvPr id="36" name="fig2-architecture-034-line"/>
          <p:cNvCxnSpPr/>
          <p:nvPr/>
        </p:nvCxnSpPr>
        <p:spPr>
          <a:xfrm>
            <a:off x="2336800" y="3454400"/>
            <a:ext cx="457200" cy="0"/>
          </a:xfrm>
          <a:prstGeom prst="line">
            <a:avLst/>
          </a:prstGeom>
          <a:ln w="25400">
            <a:solidFill>
              <a:srgbClr val="2434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ig2-architecture-035-line"/>
          <p:cNvCxnSpPr/>
          <p:nvPr/>
        </p:nvCxnSpPr>
        <p:spPr>
          <a:xfrm>
            <a:off x="4826000" y="3454400"/>
            <a:ext cx="457200" cy="0"/>
          </a:xfrm>
          <a:prstGeom prst="line">
            <a:avLst/>
          </a:prstGeom>
          <a:ln w="25400">
            <a:solidFill>
              <a:srgbClr val="2434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ig2-architecture-036-line"/>
          <p:cNvCxnSpPr/>
          <p:nvPr/>
        </p:nvCxnSpPr>
        <p:spPr>
          <a:xfrm>
            <a:off x="7315200" y="3454400"/>
            <a:ext cx="457200" cy="0"/>
          </a:xfrm>
          <a:prstGeom prst="line">
            <a:avLst/>
          </a:prstGeom>
          <a:ln w="25400">
            <a:solidFill>
              <a:srgbClr val="24344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78800" y="4013200"/>
            <a:ext cx="0" cy="482600"/>
          </a:xfrm>
          <a:prstGeom prst="line">
            <a:avLst/>
          </a:prstGeom>
          <a:ln w="25400">
            <a:solidFill>
              <a:srgbClr val="A660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299200" y="4495800"/>
            <a:ext cx="1879600" cy="0"/>
          </a:xfrm>
          <a:prstGeom prst="line">
            <a:avLst/>
          </a:prstGeom>
          <a:ln w="25400">
            <a:solidFill>
              <a:srgbClr val="A660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ig2-architecture-037-line"/>
          <p:cNvCxnSpPr/>
          <p:nvPr/>
        </p:nvCxnSpPr>
        <p:spPr>
          <a:xfrm flipV="1">
            <a:off x="6299200" y="4013200"/>
            <a:ext cx="0" cy="482600"/>
          </a:xfrm>
          <a:prstGeom prst="line">
            <a:avLst/>
          </a:prstGeom>
          <a:ln w="25400">
            <a:solidFill>
              <a:srgbClr val="A660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ig2-architecture-038-box"/>
          <p:cNvSpPr/>
          <p:nvPr/>
        </p:nvSpPr>
        <p:spPr>
          <a:xfrm>
            <a:off x="6451600" y="4343400"/>
            <a:ext cx="15748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ig2-architecture-039-text"/>
          <p:cNvSpPr txBox="1"/>
          <p:nvPr/>
        </p:nvSpPr>
        <p:spPr>
          <a:xfrm>
            <a:off x="6490543" y="4424064"/>
            <a:ext cx="1573113" cy="3251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66024"/>
                </a:solidFill>
                <a:latin typeface="Arial"/>
              </a:rPr>
              <a:t>code + feedback</a:t>
            </a:r>
          </a:p>
        </p:txBody>
      </p:sp>
      <p:cxnSp>
        <p:nvCxnSpPr>
          <p:cNvPr id="44" name="fig2-architecture-040-line"/>
          <p:cNvCxnSpPr/>
          <p:nvPr/>
        </p:nvCxnSpPr>
        <p:spPr>
          <a:xfrm>
            <a:off x="8890000" y="4013200"/>
            <a:ext cx="0" cy="1092200"/>
          </a:xfrm>
          <a:prstGeom prst="line">
            <a:avLst/>
          </a:prstGeom>
          <a:ln w="25400">
            <a:solidFill>
              <a:srgbClr val="26756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ig2-architecture-041-text"/>
          <p:cNvSpPr txBox="1"/>
          <p:nvPr/>
        </p:nvSpPr>
        <p:spPr>
          <a:xfrm>
            <a:off x="9042400" y="4449464"/>
            <a:ext cx="674885" cy="3251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67560"/>
                </a:solidFill>
                <a:latin typeface="Arial"/>
              </a:rPr>
              <a:t>accept</a:t>
            </a:r>
          </a:p>
        </p:txBody>
      </p:sp>
      <p:sp>
        <p:nvSpPr>
          <p:cNvPr id="46" name="fig2-architecture-042-box"/>
          <p:cNvSpPr/>
          <p:nvPr/>
        </p:nvSpPr>
        <p:spPr>
          <a:xfrm>
            <a:off x="7772400" y="5105400"/>
            <a:ext cx="2133600" cy="787400"/>
          </a:xfrm>
          <a:prstGeom prst="roundRect">
            <a:avLst>
              <a:gd name="adj" fmla="val 9677"/>
            </a:avLst>
          </a:prstGeom>
          <a:solidFill>
            <a:srgbClr val="EDF7F2"/>
          </a:solidFill>
          <a:ln w="20320">
            <a:solidFill>
              <a:srgbClr val="267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ig2-architecture-043-text"/>
          <p:cNvSpPr txBox="1"/>
          <p:nvPr/>
        </p:nvSpPr>
        <p:spPr>
          <a:xfrm>
            <a:off x="8154947" y="5258077"/>
            <a:ext cx="1444704" cy="3901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267560"/>
                </a:solidFill>
                <a:latin typeface="Arial"/>
              </a:rPr>
              <a:t>Retained D*</a:t>
            </a:r>
          </a:p>
        </p:txBody>
      </p:sp>
      <p:sp>
        <p:nvSpPr>
          <p:cNvPr id="48" name="fig2-architecture-044-text"/>
          <p:cNvSpPr txBox="1"/>
          <p:nvPr/>
        </p:nvSpPr>
        <p:spPr>
          <a:xfrm>
            <a:off x="7862736" y="5599861"/>
            <a:ext cx="2029127" cy="3088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243448"/>
                </a:solidFill>
                <a:latin typeface="Arial"/>
              </a:rPr>
              <a:t>Best accepted checker</a:t>
            </a:r>
          </a:p>
        </p:txBody>
      </p:sp>
      <p:sp>
        <p:nvSpPr>
          <p:cNvPr id="49" name="fig2-architecture-045-text"/>
          <p:cNvSpPr txBox="1"/>
          <p:nvPr/>
        </p:nvSpPr>
        <p:spPr>
          <a:xfrm>
            <a:off x="304800" y="4710372"/>
            <a:ext cx="335350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3448"/>
                </a:solidFill>
                <a:latin typeface="Arial"/>
              </a:rPr>
              <a:t>Retain only after a healthy run</a:t>
            </a:r>
          </a:p>
        </p:txBody>
      </p:sp>
      <p:sp>
        <p:nvSpPr>
          <p:cNvPr id="50" name="fig2-architecture-046-text"/>
          <p:cNvSpPr txBox="1"/>
          <p:nvPr/>
        </p:nvSpPr>
        <p:spPr>
          <a:xfrm>
            <a:off x="304800" y="5078917"/>
            <a:ext cx="5091616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Recover a vulnerable warning, or reduce fixed reports</a:t>
            </a:r>
          </a:p>
        </p:txBody>
      </p:sp>
      <p:sp>
        <p:nvSpPr>
          <p:cNvPr id="51" name="fig2-architecture-047-text"/>
          <p:cNvSpPr txBox="1"/>
          <p:nvPr/>
        </p:nvSpPr>
        <p:spPr>
          <a:xfrm>
            <a:off x="304800" y="5383717"/>
            <a:ext cx="4869060" cy="3373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60" b="0">
                <a:solidFill>
                  <a:srgbClr val="243448"/>
                </a:solidFill>
                <a:latin typeface="Arial"/>
              </a:rPr>
              <a:t>while preserving vulnerable-side warning presence.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udy-design-000-text"/>
          <p:cNvSpPr txBox="1"/>
          <p:nvPr/>
        </p:nvSpPr>
        <p:spPr>
          <a:xfrm>
            <a:off x="304800" y="373881"/>
            <a:ext cx="2701404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448"/>
                </a:solidFill>
                <a:latin typeface="Arial"/>
              </a:rPr>
              <a:t>Main comparison · E1</a:t>
            </a:r>
          </a:p>
        </p:txBody>
      </p:sp>
      <p:sp>
        <p:nvSpPr>
          <p:cNvPr id="3" name="study-design-001-box"/>
          <p:cNvSpPr/>
          <p:nvPr/>
        </p:nvSpPr>
        <p:spPr>
          <a:xfrm>
            <a:off x="304800" y="787400"/>
            <a:ext cx="9601200" cy="889000"/>
          </a:xfrm>
          <a:prstGeom prst="roundRect">
            <a:avLst>
              <a:gd name="adj" fmla="val 8571"/>
            </a:avLst>
          </a:prstGeom>
          <a:solidFill>
            <a:srgbClr val="F3F5F8"/>
          </a:solidFill>
          <a:ln w="20320">
            <a:solidFill>
              <a:srgbClr val="B9C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udy-design-002-text"/>
          <p:cNvSpPr txBox="1"/>
          <p:nvPr/>
        </p:nvSpPr>
        <p:spPr>
          <a:xfrm>
            <a:off x="635000" y="1003994"/>
            <a:ext cx="754260" cy="975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315F98"/>
                </a:solidFill>
                <a:latin typeface="Arial"/>
              </a:rPr>
              <a:t>39</a:t>
            </a:r>
          </a:p>
        </p:txBody>
      </p:sp>
      <p:sp>
        <p:nvSpPr>
          <p:cNvPr id="5" name="study-design-003-text"/>
          <p:cNvSpPr txBox="1"/>
          <p:nvPr/>
        </p:nvSpPr>
        <p:spPr>
          <a:xfrm>
            <a:off x="1752600" y="958081"/>
            <a:ext cx="3718272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448"/>
                </a:solidFill>
                <a:latin typeface="Arial"/>
              </a:rPr>
              <a:t>Generated-only CSA checkers</a:t>
            </a:r>
          </a:p>
        </p:txBody>
      </p:sp>
      <p:sp>
        <p:nvSpPr>
          <p:cNvPr id="6" name="study-design-004-text"/>
          <p:cNvSpPr txBox="1"/>
          <p:nvPr/>
        </p:nvSpPr>
        <p:spPr>
          <a:xfrm>
            <a:off x="1752600" y="1306772"/>
            <a:ext cx="4015531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084"/>
                </a:solidFill>
                <a:latin typeface="Arial"/>
              </a:rPr>
              <a:t>Same checker, patch and object scope</a:t>
            </a:r>
          </a:p>
        </p:txBody>
      </p:sp>
      <p:cxnSp>
        <p:nvCxnSpPr>
          <p:cNvPr id="7" name="study-design-005-line"/>
          <p:cNvCxnSpPr/>
          <p:nvPr/>
        </p:nvCxnSpPr>
        <p:spPr>
          <a:xfrm>
            <a:off x="5105400" y="1676400"/>
            <a:ext cx="0" cy="22860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udy-design-006-line"/>
          <p:cNvCxnSpPr/>
          <p:nvPr/>
        </p:nvCxnSpPr>
        <p:spPr>
          <a:xfrm>
            <a:off x="1752600" y="1905000"/>
            <a:ext cx="6705600" cy="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udy-design-007-line"/>
          <p:cNvCxnSpPr/>
          <p:nvPr/>
        </p:nvCxnSpPr>
        <p:spPr>
          <a:xfrm>
            <a:off x="1752600" y="1905000"/>
            <a:ext cx="0" cy="279400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udy-design-008-line"/>
          <p:cNvCxnSpPr/>
          <p:nvPr/>
        </p:nvCxnSpPr>
        <p:spPr>
          <a:xfrm>
            <a:off x="5105400" y="1905000"/>
            <a:ext cx="0" cy="279400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udy-design-009-line"/>
          <p:cNvCxnSpPr/>
          <p:nvPr/>
        </p:nvCxnSpPr>
        <p:spPr>
          <a:xfrm>
            <a:off x="8458200" y="1905000"/>
            <a:ext cx="0" cy="279400"/>
          </a:xfrm>
          <a:prstGeom prst="line">
            <a:avLst/>
          </a:prstGeom>
          <a:ln w="22860">
            <a:solidFill>
              <a:srgbClr val="6170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udy-design-010-box"/>
          <p:cNvSpPr/>
          <p:nvPr/>
        </p:nvSpPr>
        <p:spPr>
          <a:xfrm>
            <a:off x="304800" y="2184400"/>
            <a:ext cx="2895600" cy="787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20320">
            <a:solidFill>
              <a:srgbClr val="61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udy-design-011-text"/>
          <p:cNvSpPr txBox="1"/>
          <p:nvPr/>
        </p:nvSpPr>
        <p:spPr>
          <a:xfrm>
            <a:off x="1237833" y="2337077"/>
            <a:ext cx="1105733" cy="3901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617084"/>
                </a:solidFill>
                <a:latin typeface="Arial"/>
              </a:rPr>
              <a:t>KNighter</a:t>
            </a:r>
          </a:p>
        </p:txBody>
      </p:sp>
      <p:sp>
        <p:nvSpPr>
          <p:cNvPr id="14" name="study-design-012-text"/>
          <p:cNvSpPr txBox="1"/>
          <p:nvPr/>
        </p:nvSpPr>
        <p:spPr>
          <a:xfrm>
            <a:off x="864542" y="2662218"/>
            <a:ext cx="1852314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Report-driven loop</a:t>
            </a:r>
          </a:p>
        </p:txBody>
      </p:sp>
      <p:sp>
        <p:nvSpPr>
          <p:cNvPr id="15" name="study-design-013-box"/>
          <p:cNvSpPr/>
          <p:nvPr/>
        </p:nvSpPr>
        <p:spPr>
          <a:xfrm>
            <a:off x="3657600" y="2184400"/>
            <a:ext cx="2895600" cy="787400"/>
          </a:xfrm>
          <a:prstGeom prst="roundRect">
            <a:avLst>
              <a:gd name="adj" fmla="val 9677"/>
            </a:avLst>
          </a:prstGeom>
          <a:solidFill>
            <a:srgbClr val="EEF4FC"/>
          </a:solidFill>
          <a:ln w="20320">
            <a:solidFill>
              <a:srgbClr val="315F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udy-design-014-text"/>
          <p:cNvSpPr txBox="1"/>
          <p:nvPr/>
        </p:nvSpPr>
        <p:spPr>
          <a:xfrm>
            <a:off x="4414123" y="2337077"/>
            <a:ext cx="1458753" cy="3901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315F98"/>
                </a:solidFill>
                <a:latin typeface="Arial"/>
              </a:rPr>
              <a:t>SemWeaver</a:t>
            </a:r>
          </a:p>
        </p:txBody>
      </p:sp>
      <p:sp>
        <p:nvSpPr>
          <p:cNvPr id="17" name="study-design-015-text"/>
          <p:cNvSpPr txBox="1"/>
          <p:nvPr/>
        </p:nvSpPr>
        <p:spPr>
          <a:xfrm>
            <a:off x="4337310" y="2662218"/>
            <a:ext cx="1612379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Native evidence</a:t>
            </a:r>
          </a:p>
        </p:txBody>
      </p:sp>
      <p:sp>
        <p:nvSpPr>
          <p:cNvPr id="18" name="study-design-016-box"/>
          <p:cNvSpPr/>
          <p:nvPr/>
        </p:nvSpPr>
        <p:spPr>
          <a:xfrm>
            <a:off x="7010400" y="2184400"/>
            <a:ext cx="2895600" cy="787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20320">
            <a:solidFill>
              <a:srgbClr val="617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udy-design-017-text"/>
          <p:cNvSpPr txBox="1"/>
          <p:nvPr/>
        </p:nvSpPr>
        <p:spPr>
          <a:xfrm>
            <a:off x="7766923" y="2337077"/>
            <a:ext cx="1458753" cy="3901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617084"/>
                </a:solidFill>
                <a:latin typeface="Arial"/>
              </a:rPr>
              <a:t>SemWeaver</a:t>
            </a:r>
          </a:p>
        </p:txBody>
      </p:sp>
      <p:sp>
        <p:nvSpPr>
          <p:cNvPr id="20" name="study-design-018-text"/>
          <p:cNvSpPr txBox="1"/>
          <p:nvPr/>
        </p:nvSpPr>
        <p:spPr>
          <a:xfrm>
            <a:off x="7474052" y="2662218"/>
            <a:ext cx="2044495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43448"/>
                </a:solidFill>
                <a:latin typeface="Arial"/>
              </a:rPr>
              <a:t>No internal evidence</a:t>
            </a:r>
          </a:p>
        </p:txBody>
      </p:sp>
      <p:sp>
        <p:nvSpPr>
          <p:cNvPr id="21" name="study-design-019-text"/>
          <p:cNvSpPr txBox="1"/>
          <p:nvPr/>
        </p:nvSpPr>
        <p:spPr>
          <a:xfrm>
            <a:off x="3313825" y="3135572"/>
            <a:ext cx="3659348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17084"/>
                </a:solidFill>
                <a:latin typeface="Arial"/>
              </a:rPr>
              <a:t>GPT-6-Luna high · 32-reply ceiling*</a:t>
            </a:r>
          </a:p>
        </p:txBody>
      </p:sp>
      <p:sp>
        <p:nvSpPr>
          <p:cNvPr id="22" name="study-design-020-text"/>
          <p:cNvSpPr txBox="1"/>
          <p:nvPr/>
        </p:nvSpPr>
        <p:spPr>
          <a:xfrm>
            <a:off x="304800" y="3650481"/>
            <a:ext cx="3252068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448"/>
                </a:solidFill>
                <a:latin typeface="Arial"/>
              </a:rPr>
              <a:t>Original 12-subject subset</a:t>
            </a:r>
          </a:p>
        </p:txBody>
      </p:sp>
      <p:sp>
        <p:nvSpPr>
          <p:cNvPr id="23" name="study-design-021-text"/>
          <p:cNvSpPr txBox="1"/>
          <p:nvPr/>
        </p:nvSpPr>
        <p:spPr>
          <a:xfrm>
            <a:off x="7239000" y="3687464"/>
            <a:ext cx="2222202" cy="3251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"/>
              </a:rPr>
              <a:t>Same inputs for E3 / E4</a:t>
            </a:r>
          </a:p>
        </p:txBody>
      </p:sp>
      <p:cxnSp>
        <p:nvCxnSpPr>
          <p:cNvPr id="24" name="study-design-022-line"/>
          <p:cNvCxnSpPr/>
          <p:nvPr/>
        </p:nvCxnSpPr>
        <p:spPr>
          <a:xfrm>
            <a:off x="304800" y="3987800"/>
            <a:ext cx="9601200" cy="0"/>
          </a:xfrm>
          <a:prstGeom prst="line">
            <a:avLst/>
          </a:prstGeom>
          <a:ln w="16510">
            <a:solidFill>
              <a:srgbClr val="B9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udy-design-023-box"/>
          <p:cNvSpPr/>
          <p:nvPr/>
        </p:nvSpPr>
        <p:spPr>
          <a:xfrm>
            <a:off x="304800" y="4292600"/>
            <a:ext cx="45974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20320">
            <a:solidFill>
              <a:srgbClr val="B9C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udy-design-024-box"/>
          <p:cNvSpPr/>
          <p:nvPr/>
        </p:nvSpPr>
        <p:spPr>
          <a:xfrm>
            <a:off x="5308600" y="4292600"/>
            <a:ext cx="4597400" cy="200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20320">
            <a:solidFill>
              <a:srgbClr val="B9C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udy-design-025-text"/>
          <p:cNvSpPr txBox="1"/>
          <p:nvPr/>
        </p:nvSpPr>
        <p:spPr>
          <a:xfrm>
            <a:off x="558800" y="4499776"/>
            <a:ext cx="2636807" cy="3820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243448"/>
                </a:solidFill>
                <a:latin typeface="Arial"/>
              </a:rPr>
              <a:t>Repeated ablation · E3</a:t>
            </a:r>
          </a:p>
        </p:txBody>
      </p:sp>
      <p:sp>
        <p:nvSpPr>
          <p:cNvPr id="28" name="study-design-026-text"/>
          <p:cNvSpPr txBox="1"/>
          <p:nvPr/>
        </p:nvSpPr>
        <p:spPr>
          <a:xfrm>
            <a:off x="558800" y="4846618"/>
            <a:ext cx="2104163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"/>
              </a:rPr>
              <a:t>Native vs. no-internal</a:t>
            </a:r>
          </a:p>
        </p:txBody>
      </p:sp>
      <p:sp>
        <p:nvSpPr>
          <p:cNvPr id="29" name="study-design-027-box"/>
          <p:cNvSpPr/>
          <p:nvPr/>
        </p:nvSpPr>
        <p:spPr>
          <a:xfrm>
            <a:off x="558800" y="5257800"/>
            <a:ext cx="1295400" cy="558800"/>
          </a:xfrm>
          <a:prstGeom prst="roundRect">
            <a:avLst>
              <a:gd name="adj" fmla="val 909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udy-design-028-text"/>
          <p:cNvSpPr txBox="1"/>
          <p:nvPr/>
        </p:nvSpPr>
        <p:spPr>
          <a:xfrm>
            <a:off x="816446" y="5456218"/>
            <a:ext cx="856307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"/>
              </a:rPr>
              <a:t>1: reuse</a:t>
            </a:r>
          </a:p>
        </p:txBody>
      </p:sp>
      <p:sp>
        <p:nvSpPr>
          <p:cNvPr id="31" name="study-design-029-box"/>
          <p:cNvSpPr/>
          <p:nvPr/>
        </p:nvSpPr>
        <p:spPr>
          <a:xfrm>
            <a:off x="1955800" y="5257800"/>
            <a:ext cx="1295400" cy="558800"/>
          </a:xfrm>
          <a:prstGeom prst="roundRect">
            <a:avLst>
              <a:gd name="adj" fmla="val 909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udy-design-030-text"/>
          <p:cNvSpPr txBox="1"/>
          <p:nvPr/>
        </p:nvSpPr>
        <p:spPr>
          <a:xfrm>
            <a:off x="2285448" y="5456218"/>
            <a:ext cx="712303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15F98"/>
                </a:solidFill>
                <a:latin typeface="Arial"/>
              </a:rPr>
              <a:t>2: new</a:t>
            </a:r>
          </a:p>
        </p:txBody>
      </p:sp>
      <p:sp>
        <p:nvSpPr>
          <p:cNvPr id="33" name="study-design-031-box"/>
          <p:cNvSpPr/>
          <p:nvPr/>
        </p:nvSpPr>
        <p:spPr>
          <a:xfrm>
            <a:off x="3352800" y="5257800"/>
            <a:ext cx="1295400" cy="558800"/>
          </a:xfrm>
          <a:prstGeom prst="roundRect">
            <a:avLst>
              <a:gd name="adj" fmla="val 909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udy-design-032-text"/>
          <p:cNvSpPr txBox="1"/>
          <p:nvPr/>
        </p:nvSpPr>
        <p:spPr>
          <a:xfrm>
            <a:off x="3682448" y="5456218"/>
            <a:ext cx="712303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315F98"/>
                </a:solidFill>
                <a:latin typeface="Arial"/>
              </a:rPr>
              <a:t>3: new</a:t>
            </a:r>
          </a:p>
        </p:txBody>
      </p:sp>
      <p:sp>
        <p:nvSpPr>
          <p:cNvPr id="35" name="study-design-033-text"/>
          <p:cNvSpPr txBox="1"/>
          <p:nvPr/>
        </p:nvSpPr>
        <p:spPr>
          <a:xfrm>
            <a:off x="558800" y="5984071"/>
            <a:ext cx="3064470" cy="3576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243448"/>
                </a:solidFill>
                <a:latin typeface="Arial"/>
              </a:rPr>
              <a:t>72 cells: 24 reused + 48 new</a:t>
            </a:r>
          </a:p>
        </p:txBody>
      </p:sp>
      <p:sp>
        <p:nvSpPr>
          <p:cNvPr id="36" name="study-design-034-text"/>
          <p:cNvSpPr txBox="1"/>
          <p:nvPr/>
        </p:nvSpPr>
        <p:spPr>
          <a:xfrm>
            <a:off x="5562600" y="4499776"/>
            <a:ext cx="2504253" cy="3820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243448"/>
                </a:solidFill>
                <a:latin typeface="Arial"/>
              </a:rPr>
              <a:t>Model sensitivity · E4</a:t>
            </a:r>
          </a:p>
        </p:txBody>
      </p:sp>
      <p:sp>
        <p:nvSpPr>
          <p:cNvPr id="37" name="study-design-035-text"/>
          <p:cNvSpPr txBox="1"/>
          <p:nvPr/>
        </p:nvSpPr>
        <p:spPr>
          <a:xfrm>
            <a:off x="5562600" y="4846618"/>
            <a:ext cx="2404082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"/>
              </a:rPr>
              <a:t>Native only · 2-reply cap</a:t>
            </a:r>
          </a:p>
        </p:txBody>
      </p:sp>
      <p:sp>
        <p:nvSpPr>
          <p:cNvPr id="38" name="study-design-036-box"/>
          <p:cNvSpPr/>
          <p:nvPr/>
        </p:nvSpPr>
        <p:spPr>
          <a:xfrm>
            <a:off x="5562600" y="5257800"/>
            <a:ext cx="1295400" cy="558800"/>
          </a:xfrm>
          <a:prstGeom prst="roundRect">
            <a:avLst>
              <a:gd name="adj" fmla="val 909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udy-design-037-text"/>
          <p:cNvSpPr txBox="1"/>
          <p:nvPr/>
        </p:nvSpPr>
        <p:spPr>
          <a:xfrm>
            <a:off x="5679204" y="5472861"/>
            <a:ext cx="1138391" cy="3088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243448"/>
                </a:solidFill>
                <a:latin typeface="Arial"/>
              </a:rPr>
              <a:t>GPT-6-Luna</a:t>
            </a:r>
          </a:p>
        </p:txBody>
      </p:sp>
      <p:sp>
        <p:nvSpPr>
          <p:cNvPr id="40" name="study-design-038-box"/>
          <p:cNvSpPr/>
          <p:nvPr/>
        </p:nvSpPr>
        <p:spPr>
          <a:xfrm>
            <a:off x="6959600" y="5257800"/>
            <a:ext cx="1295400" cy="558800"/>
          </a:xfrm>
          <a:prstGeom prst="roundRect">
            <a:avLst>
              <a:gd name="adj" fmla="val 909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udy-design-039-text"/>
          <p:cNvSpPr txBox="1"/>
          <p:nvPr/>
        </p:nvSpPr>
        <p:spPr>
          <a:xfrm>
            <a:off x="7231824" y="5472861"/>
            <a:ext cx="827151" cy="3088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243448"/>
                </a:solidFill>
                <a:latin typeface="Arial"/>
              </a:rPr>
              <a:t>GLM-5.3</a:t>
            </a:r>
          </a:p>
        </p:txBody>
      </p:sp>
      <p:sp>
        <p:nvSpPr>
          <p:cNvPr id="42" name="study-design-040-box"/>
          <p:cNvSpPr/>
          <p:nvPr/>
        </p:nvSpPr>
        <p:spPr>
          <a:xfrm>
            <a:off x="8356600" y="5257800"/>
            <a:ext cx="1295400" cy="558800"/>
          </a:xfrm>
          <a:prstGeom prst="roundRect">
            <a:avLst>
              <a:gd name="adj" fmla="val 909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udy-design-041-text"/>
          <p:cNvSpPr txBox="1"/>
          <p:nvPr/>
        </p:nvSpPr>
        <p:spPr>
          <a:xfrm>
            <a:off x="8628824" y="5345861"/>
            <a:ext cx="827151" cy="3088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243448"/>
                </a:solidFill>
                <a:latin typeface="Arial"/>
              </a:rPr>
              <a:t>GLM-5.3</a:t>
            </a:r>
          </a:p>
        </p:txBody>
      </p:sp>
      <p:sp>
        <p:nvSpPr>
          <p:cNvPr id="44" name="study-design-042-text"/>
          <p:cNvSpPr txBox="1"/>
          <p:nvPr/>
        </p:nvSpPr>
        <p:spPr>
          <a:xfrm>
            <a:off x="8768278" y="5574461"/>
            <a:ext cx="548243" cy="3088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243448"/>
                </a:solidFill>
                <a:latin typeface="Arial"/>
              </a:rPr>
              <a:t>Flash</a:t>
            </a:r>
          </a:p>
        </p:txBody>
      </p:sp>
      <p:sp>
        <p:nvSpPr>
          <p:cNvPr id="45" name="study-design-043-text"/>
          <p:cNvSpPr txBox="1"/>
          <p:nvPr/>
        </p:nvSpPr>
        <p:spPr>
          <a:xfrm>
            <a:off x="5562600" y="5984071"/>
            <a:ext cx="3225452" cy="3576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60" b="1">
                <a:solidFill>
                  <a:srgbClr val="243448"/>
                </a:solidFill>
                <a:latin typeface="Arial"/>
              </a:rPr>
              <a:t>36 cells: 12 inputs × 3 models</a:t>
            </a:r>
          </a:p>
        </p:txBody>
      </p:sp>
      <p:sp>
        <p:nvSpPr>
          <p:cNvPr id="46" name="study-design-044-box"/>
          <p:cNvSpPr/>
          <p:nvPr/>
        </p:nvSpPr>
        <p:spPr>
          <a:xfrm>
            <a:off x="304800" y="6731000"/>
            <a:ext cx="9601200" cy="812800"/>
          </a:xfrm>
          <a:prstGeom prst="roundRect">
            <a:avLst>
              <a:gd name="adj" fmla="val 9375"/>
            </a:avLst>
          </a:prstGeom>
          <a:solidFill>
            <a:srgbClr val="F3F5F8"/>
          </a:solidFill>
          <a:ln w="20320">
            <a:solidFill>
              <a:srgbClr val="B9C3C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tudy-design-045-text"/>
          <p:cNvSpPr txBox="1"/>
          <p:nvPr/>
        </p:nvSpPr>
        <p:spPr>
          <a:xfrm>
            <a:off x="584200" y="6901681"/>
            <a:ext cx="1600324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448"/>
                </a:solidFill>
                <a:latin typeface="Arial"/>
              </a:rPr>
              <a:t>CodeQL · E2</a:t>
            </a:r>
          </a:p>
        </p:txBody>
      </p:sp>
      <p:sp>
        <p:nvSpPr>
          <p:cNvPr id="48" name="study-design-046-text"/>
          <p:cNvSpPr txBox="1"/>
          <p:nvPr/>
        </p:nvSpPr>
        <p:spPr>
          <a:xfrm>
            <a:off x="6019800" y="6901681"/>
            <a:ext cx="2511524" cy="4064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3448"/>
                </a:solidFill>
                <a:latin typeface="Arial"/>
              </a:rPr>
              <a:t>1 query × 3 decodes</a:t>
            </a:r>
          </a:p>
        </p:txBody>
      </p:sp>
      <p:sp>
        <p:nvSpPr>
          <p:cNvPr id="49" name="study-design-047-text"/>
          <p:cNvSpPr txBox="1"/>
          <p:nvPr/>
        </p:nvSpPr>
        <p:spPr>
          <a:xfrm>
            <a:off x="584200" y="7234218"/>
            <a:ext cx="5080799" cy="345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"/>
              </a:rPr>
              <a:t>Separate case; not pooled with the CSA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SemWeaver diagrams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