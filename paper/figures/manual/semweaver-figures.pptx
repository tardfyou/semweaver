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0.svg" ContentType="image/svg+xml"/>
  <Override PartName="/ppt/media/image42.svg" ContentType="image/svg+xml"/>
  <Override PartName="/ppt/media/image43.svg" ContentType="image/svg+xml"/>
  <Override PartName="/ppt/media/image4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37" r:id="rId7"/>
    <p:sldId id="439" r:id="rId8"/>
    <p:sldId id="44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CAEAC2"/>
    <a:srgbClr val="D0F1C7"/>
    <a:srgbClr val="ABF2A1"/>
    <a:srgbClr val="FDEEBC"/>
    <a:srgbClr val="FCEEBC"/>
    <a:srgbClr val="FBF1E0"/>
    <a:srgbClr val="FFF6D6"/>
    <a:srgbClr val="C3DEB3"/>
    <a:srgbClr val="BBD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01" autoAdjust="0"/>
    <p:restoredTop sz="94678"/>
  </p:normalViewPr>
  <p:slideViewPr>
    <p:cSldViewPr snapToGrid="0">
      <p:cViewPr>
        <p:scale>
          <a:sx n="130" d="100"/>
          <a:sy n="130" d="100"/>
        </p:scale>
        <p:origin x="-150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65479-E2AF-BFED-35BF-6E4BE7C29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D590CD-D3A6-79B8-2A9D-A195BD673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5449A-3B2E-443A-B931-DC0AAC75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383EC-E1E8-DF76-275B-A4684DE0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61FDF-8C0C-F0E7-64E1-27DFC8F2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1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CC5E4-CCAD-4016-C5A8-F75E742E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EDF8E-A6F7-B122-2283-94EC4B7A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CDEE7-7782-C787-8A10-7A068CC9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6D025-3E8B-348A-EFBE-2F3D9314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5B1EB-0A0A-7C3F-556A-CB7977AF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7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693A1-4B55-7E81-DA7A-C5E3C67A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82831C-2A1E-7D5F-3B0F-FDCF10F81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4C0EE-37FC-AAD2-674D-5237CED5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9D4D9-3B91-079F-3A84-E63EEFFC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BCD10-8B2E-2028-C6C3-36B1EF40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18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A5137-EB6D-0FE4-DBF1-83ACB6CB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FD6B2-B4B6-7F48-CC40-09A74AA08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0156AD-0ECD-ACE3-AB41-FD7722F2C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9CAE8F-46EA-7924-84BD-0764773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4B664C-274C-2E55-8FC4-6A3FF3C9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9032C0-6ACF-CB9C-EE6B-B15B3F7C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7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BEC60-9C9C-7F62-4407-6626299F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845CE4-1D87-488D-0E7A-E5D3A012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977CFE-2F3E-3EFC-4316-6622FCEC3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C89CBB-8947-EAF3-2D37-DE432B1C9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5E85FB-22AF-A458-7BB8-2C9CE92A0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6DB8D6-DC46-C9B6-9F36-AD3A4872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F1B4A3-0AC5-DC64-E92C-9CA7F8D5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EF470C-A892-F863-9AEF-2E67908F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50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C05C9-3464-EAA9-A1B2-4150D1A3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8A93EE-B910-7DEC-261A-E3B63B9D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99AA88-0BD7-894D-E03C-9EA5B24B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532B11-B748-3905-9FD3-445D160B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43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E2931E-A20F-7F4C-7FD9-C6BD1FF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BDE517-23DF-C782-67A0-3984FE2F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C78810-D1FB-8D39-70E1-D736286A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2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784E0-5BD3-D1DF-C011-E05D501B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63D7E-86C8-E2FC-0905-097E7184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14DAF1-3D00-350B-97B2-B075C565E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0D23F0-C69D-481B-34F6-02854918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343BE4-EDFB-CF94-0564-868E332F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43BE91-C311-B05A-1E03-15177AB74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8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E9F80-3870-DDF4-B207-280A2275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A87835-D28E-8ADF-9022-7744AAD77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9AFA30-2B11-6F8F-4120-D2F15F851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F7500A-B383-F678-0448-3D9E93D3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B60DE0-4642-41CE-2993-5794398A2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3DB12F-C6E3-2F6D-C444-13DB5CA3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37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6CDA6-56D3-B66D-67FC-DB499CDA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0ED5DD-0F27-D6D7-9320-6F40BFBA5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06998-B4D7-EC9C-BF5E-9D85C263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FFBC0-EAA1-07FF-6AE4-4211CCFF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E7303-302A-90E1-2BB8-A6113302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1D1F5A-BC7F-876F-E000-EE4AFFE2F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7184AF-BD5B-6234-0E9C-B08DF2406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CDB48C-6F9A-AF79-6FB1-D85A4A65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ADC5C8-B262-1FBF-70CC-880F1359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98FE6-226E-186E-ADC4-3A94DB67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51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87E5D5-1808-DA47-E8A4-5687B88C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1AB2E6-E47B-7CDF-44ED-096130205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B2451-89EA-57C0-6B99-B8421AA55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64431-0C39-4764-A2C4-2F8E9B90728E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C02C4-3A2C-E1F4-F3D0-260373BD5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8207C-FDD0-72FC-44A2-DBD175ECA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08275-7D64-469A-924A-F3EB951C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8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40.svg"/><Relationship Id="rId8" Type="http://schemas.openxmlformats.org/officeDocument/2006/relationships/image" Target="../media/image41.png"/><Relationship Id="rId9" Type="http://schemas.openxmlformats.org/officeDocument/2006/relationships/image" Target="../media/image42.svg"/><Relationship Id="rId10" Type="http://schemas.openxmlformats.org/officeDocument/2006/relationships/image" Target="../media/image43.svg"/><Relationship Id="rId11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image" Target="../media/image47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1E5D-25BE-62DB-2160-D387277D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连接符: 曲线 79">
            <a:extLst>
              <a:ext uri="{FF2B5EF4-FFF2-40B4-BE49-F238E27FC236}">
                <a16:creationId xmlns:a16="http://schemas.microsoft.com/office/drawing/2014/main" id="{B3AA829A-7226-4E5D-DECF-0C766CF05BBD}"/>
              </a:ext>
            </a:extLst>
          </p:cNvPr>
          <p:cNvCxnSpPr>
            <a:cxnSpLocks/>
            <a:endCxn id="59" idx="1"/>
          </p:cNvCxnSpPr>
          <p:nvPr/>
        </p:nvCxnSpPr>
        <p:spPr>
          <a:xfrm rot="5400000">
            <a:off x="4815826" y="3209057"/>
            <a:ext cx="1060142" cy="53461"/>
          </a:xfrm>
          <a:prstGeom prst="curvedConnector4">
            <a:avLst>
              <a:gd name="adj1" fmla="val 43468"/>
              <a:gd name="adj2" fmla="val 527601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圆角矩形 28">
            <a:extLst>
              <a:ext uri="{FF2B5EF4-FFF2-40B4-BE49-F238E27FC236}">
                <a16:creationId xmlns:a16="http://schemas.microsoft.com/office/drawing/2014/main" id="{F72F8CD1-C750-4442-9C65-E2D944E70E2D}"/>
              </a:ext>
            </a:extLst>
          </p:cNvPr>
          <p:cNvSpPr/>
          <p:nvPr/>
        </p:nvSpPr>
        <p:spPr>
          <a:xfrm>
            <a:off x="6687368" y="2828260"/>
            <a:ext cx="2223899" cy="21997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圆角矩形 28">
            <a:extLst>
              <a:ext uri="{FF2B5EF4-FFF2-40B4-BE49-F238E27FC236}">
                <a16:creationId xmlns:a16="http://schemas.microsoft.com/office/drawing/2014/main" id="{BB19C502-E330-1097-2DCB-E03CC275F22C}"/>
              </a:ext>
            </a:extLst>
          </p:cNvPr>
          <p:cNvSpPr/>
          <p:nvPr/>
        </p:nvSpPr>
        <p:spPr>
          <a:xfrm>
            <a:off x="6652354" y="4524446"/>
            <a:ext cx="2347675" cy="21997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F786499-F0F2-A82B-A86B-75A6236CC32E}"/>
              </a:ext>
            </a:extLst>
          </p:cNvPr>
          <p:cNvSpPr txBox="1"/>
          <p:nvPr/>
        </p:nvSpPr>
        <p:spPr>
          <a:xfrm>
            <a:off x="6840134" y="4550996"/>
            <a:ext cx="2466323" cy="20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Extent-aware condition; V/F: 1/0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F52CA85-A599-5793-77D5-38102BA6D4C6}"/>
              </a:ext>
            </a:extLst>
          </p:cNvPr>
          <p:cNvSpPr txBox="1"/>
          <p:nvPr/>
        </p:nvSpPr>
        <p:spPr>
          <a:xfrm>
            <a:off x="6586111" y="2823925"/>
            <a:ext cx="2424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Missing extent test; V/F: 1/1</a:t>
            </a:r>
          </a:p>
          <a:p>
            <a:pPr algn="ctr"/>
            <a:endParaRPr lang="en-US" altLang="zh-CN" sz="900" b="1" dirty="0">
              <a:solidFill>
                <a:schemeClr val="tx1"/>
              </a:solidFill>
              <a:latin typeface="Comic Sans MS" panose="030F0902030302020204" pitchFamily="66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FAC055-C96D-3202-6AB1-F6754740708E}"/>
              </a:ext>
            </a:extLst>
          </p:cNvPr>
          <p:cNvSpPr/>
          <p:nvPr/>
        </p:nvSpPr>
        <p:spPr>
          <a:xfrm>
            <a:off x="2996826" y="1758854"/>
            <a:ext cx="3455769" cy="303850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D609AB-A4AA-F219-36EE-27671CFA7012}"/>
              </a:ext>
            </a:extLst>
          </p:cNvPr>
          <p:cNvSpPr txBox="1"/>
          <p:nvPr/>
        </p:nvSpPr>
        <p:spPr>
          <a:xfrm>
            <a:off x="2960946" y="1796936"/>
            <a:ext cx="24984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1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  // N := MAX_PIPES * 2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M2  struct 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dc_link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 *links[N];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M3  // 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get_host_router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_...(...)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M4  ...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M5  </a:t>
            </a:r>
            <a:r>
              <a:rPr lang="en-US" altLang="zh-CN" sz="1100" dirty="0">
                <a:solidFill>
                  <a:schemeClr val="accent2"/>
                </a:solidFill>
                <a:latin typeface="Consolas" panose="020B0609020204030204" pitchFamily="49" charset="0"/>
              </a:rPr>
              <a:t>- for (</a:t>
            </a:r>
            <a:r>
              <a:rPr lang="en-US" altLang="zh-CN" sz="11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2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1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2"/>
                </a:solidFill>
                <a:latin typeface="Consolas" panose="020B0609020204030204" pitchFamily="49" charset="0"/>
              </a:rPr>
              <a:t>&lt;N; ++</a:t>
            </a:r>
            <a:r>
              <a:rPr lang="en-US" altLang="zh-CN" sz="11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2"/>
                </a:solidFill>
                <a:latin typeface="Consolas" panose="020B0609020204030204" pitchFamily="49" charset="0"/>
              </a:rPr>
              <a:t>) {  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M6  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+ for (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&lt;N-1; ++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) {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M7  if (!dc-&gt;links[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] || ...)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M8  continue; ... 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M9  if (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hr_match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) {  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M10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dirty="0">
                <a:latin typeface="Consolas" panose="020B0609020204030204" pitchFamily="49" charset="0"/>
              </a:rPr>
              <a:t>primary=dc-&gt;links[</a:t>
            </a:r>
            <a:r>
              <a:rPr lang="en-US" altLang="zh-CN" sz="1100" dirty="0" err="1"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latin typeface="Consolas" panose="020B0609020204030204" pitchFamily="49" charset="0"/>
              </a:rPr>
              <a:t>];    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M11 </a:t>
            </a:r>
            <a:r>
              <a:rPr lang="en-US" altLang="zh-CN" sz="1100" dirty="0">
                <a:solidFill>
                  <a:schemeClr val="accent2"/>
                </a:solidFill>
                <a:latin typeface="Consolas" panose="020B0609020204030204" pitchFamily="49" charset="0"/>
              </a:rPr>
              <a:t>secondary=dc-&gt;links[i+1];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M12 ...;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M13 break;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M14 }   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M15 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885B1C-6E2F-41E9-BD92-B4888986D0C7}"/>
              </a:ext>
            </a:extLst>
          </p:cNvPr>
          <p:cNvSpPr/>
          <p:nvPr/>
        </p:nvSpPr>
        <p:spPr>
          <a:xfrm>
            <a:off x="6457242" y="1759123"/>
            <a:ext cx="2588252" cy="133581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BBD40A-F5EF-E8CF-F05C-EF3D0C559A01}"/>
              </a:ext>
            </a:extLst>
          </p:cNvPr>
          <p:cNvSpPr txBox="1"/>
          <p:nvPr/>
        </p:nvSpPr>
        <p:spPr>
          <a:xfrm>
            <a:off x="6452596" y="1923243"/>
            <a:ext cx="196611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B1 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checkASTCodeBody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(F):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B2 for loop </a:t>
            </a:r>
            <a:r>
              <a:rPr lang="en-US" altLang="zh-CN" sz="1100" dirty="0" err="1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 &lt; B: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B3 find access A[i+1]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B4 if no body guard: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B5 report(A[i+1])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7F0BC6-5E8C-288F-C48F-753184D1CD00}"/>
              </a:ext>
            </a:extLst>
          </p:cNvPr>
          <p:cNvSpPr/>
          <p:nvPr/>
        </p:nvSpPr>
        <p:spPr>
          <a:xfrm>
            <a:off x="6492327" y="3128607"/>
            <a:ext cx="2553167" cy="166875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87CACA7-2F07-5EC9-2E82-D5959EF79334}"/>
              </a:ext>
            </a:extLst>
          </p:cNvPr>
          <p:cNvSpPr txBox="1"/>
          <p:nvPr/>
        </p:nvSpPr>
        <p:spPr>
          <a:xfrm>
            <a:off x="6460042" y="3318135"/>
            <a:ext cx="24512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C1 </a:t>
            </a:r>
            <a:r>
              <a:rPr lang="en-US" altLang="zh-CN" sz="1100" dirty="0" err="1">
                <a:latin typeface="Consolas" panose="020B0609020204030204" pitchFamily="49" charset="0"/>
              </a:rPr>
              <a:t>checkASTCodeBody</a:t>
            </a:r>
            <a:r>
              <a:rPr lang="en-US" altLang="zh-CN" sz="1100" dirty="0">
                <a:latin typeface="Consolas" panose="020B0609020204030204" pitchFamily="49" charset="0"/>
              </a:rPr>
              <a:t>(F):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C2 keep loop/access discovery</a:t>
            </a:r>
            <a:endParaRPr lang="en-US" altLang="zh-CN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C3 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N = 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type_extent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C4 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max_index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(B-1)+1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C5 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max_index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&lt; N:</a:t>
            </a:r>
          </a:p>
          <a:p>
            <a:r>
              <a:rPr lang="en-US" altLang="zh-CN" sz="1100" dirty="0">
                <a:solidFill>
                  <a:srgbClr val="5C5C5C"/>
                </a:solidFill>
                <a:latin typeface="Consolas" panose="020B0609020204030204" pitchFamily="49" charset="0"/>
              </a:rPr>
              <a:t>C6 </a:t>
            </a:r>
            <a:r>
              <a:rPr lang="en-US" altLang="zh-CN" sz="1100" dirty="0">
                <a:solidFill>
                  <a:schemeClr val="accent6"/>
                </a:solidFill>
                <a:latin typeface="Consolas" panose="020B0609020204030204" pitchFamily="49" charset="0"/>
              </a:rPr>
              <a:t>suppress; else: warn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EE9183-318D-014D-B753-5ABECFBB984F}"/>
              </a:ext>
            </a:extLst>
          </p:cNvPr>
          <p:cNvSpPr txBox="1"/>
          <p:nvPr/>
        </p:nvSpPr>
        <p:spPr>
          <a:xfrm>
            <a:off x="2546799" y="1791971"/>
            <a:ext cx="2986731" cy="241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#A.</a:t>
            </a:r>
            <a:r>
              <a:rPr kumimoji="1" lang="zh-CN" altLang="en-US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Patch and array extent</a:t>
            </a:r>
            <a:endParaRPr kumimoji="1" lang="en-US" altLang="zh-CN" sz="1200" b="1" dirty="0">
              <a:latin typeface="Comic Sans MS" panose="030F0902030302020204" pitchFamily="66" charset="0"/>
              <a:cs typeface="Calibri" panose="020F0502020204030204" pitchFamily="34" charset="0"/>
            </a:endParaRPr>
          </a:p>
        </p:txBody>
      </p:sp>
      <p:cxnSp>
        <p:nvCxnSpPr>
          <p:cNvPr id="40" name="直线箭头连接符 23">
            <a:extLst>
              <a:ext uri="{FF2B5EF4-FFF2-40B4-BE49-F238E27FC236}">
                <a16:creationId xmlns:a16="http://schemas.microsoft.com/office/drawing/2014/main" id="{D0D892A1-E81A-CF50-175B-F917E7B74E90}"/>
              </a:ext>
            </a:extLst>
          </p:cNvPr>
          <p:cNvCxnSpPr>
            <a:cxnSpLocks/>
          </p:cNvCxnSpPr>
          <p:nvPr/>
        </p:nvCxnSpPr>
        <p:spPr>
          <a:xfrm>
            <a:off x="4773230" y="4582438"/>
            <a:ext cx="30217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23">
            <a:extLst>
              <a:ext uri="{FF2B5EF4-FFF2-40B4-BE49-F238E27FC236}">
                <a16:creationId xmlns:a16="http://schemas.microsoft.com/office/drawing/2014/main" id="{D0FAE37A-D6A3-7D48-B841-94A1EE387513}"/>
              </a:ext>
            </a:extLst>
          </p:cNvPr>
          <p:cNvCxnSpPr>
            <a:cxnSpLocks/>
          </p:cNvCxnSpPr>
          <p:nvPr/>
        </p:nvCxnSpPr>
        <p:spPr>
          <a:xfrm>
            <a:off x="5303486" y="4457915"/>
            <a:ext cx="30217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9A8DD1E-3FE8-A4E4-7BB6-E69420EB7F12}"/>
              </a:ext>
            </a:extLst>
          </p:cNvPr>
          <p:cNvSpPr txBox="1"/>
          <p:nvPr/>
        </p:nvSpPr>
        <p:spPr>
          <a:xfrm>
            <a:off x="6213386" y="1794280"/>
            <a:ext cx="2200371" cy="241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#B. Starting checker</a:t>
            </a:r>
            <a:endParaRPr kumimoji="1" lang="en-US" altLang="zh-CN" sz="1200" b="1" dirty="0">
              <a:latin typeface="Comic Sans MS" panose="030F09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534D0A-4B26-AD8C-E89D-C8A0C74E247B}"/>
              </a:ext>
            </a:extLst>
          </p:cNvPr>
          <p:cNvSpPr txBox="1"/>
          <p:nvPr/>
        </p:nvSpPr>
        <p:spPr>
          <a:xfrm>
            <a:off x="6279905" y="3168016"/>
            <a:ext cx="2451225" cy="241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kumimoji="1" lang="en-US" altLang="zh-CN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#C.</a:t>
            </a:r>
            <a:r>
              <a:rPr kumimoji="1" lang="zh-CN" altLang="en-US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2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Automatic refinement</a:t>
            </a:r>
            <a:endParaRPr kumimoji="1" lang="en-US" altLang="zh-CN" sz="1200" b="1" dirty="0">
              <a:latin typeface="Comic Sans MS" panose="030F09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E53F1B-F303-F02D-C638-76B194D00A27}"/>
              </a:ext>
            </a:extLst>
          </p:cNvPr>
          <p:cNvSpPr txBox="1"/>
          <p:nvPr/>
        </p:nvSpPr>
        <p:spPr>
          <a:xfrm>
            <a:off x="3963261" y="3998734"/>
            <a:ext cx="1864351" cy="37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Vulnerable: max(</a:t>
            </a:r>
            <a:r>
              <a:rPr kumimoji="1" lang="en-US" altLang="zh-CN" sz="900" b="1" dirty="0" err="1">
                <a:latin typeface="Comic Sans MS" panose="030F0902030302020204" pitchFamily="66" charset="0"/>
                <a:cs typeface="Consolas" panose="020B0609020204030204" pitchFamily="49" charset="0"/>
              </a:rPr>
              <a:t>i</a:t>
            </a: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 + 1) = N</a:t>
            </a:r>
          </a:p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Fixed: max(</a:t>
            </a:r>
            <a:r>
              <a:rPr kumimoji="1" lang="en-US" altLang="zh-CN" sz="900" b="1" dirty="0" err="1">
                <a:latin typeface="Comic Sans MS" panose="030F0902030302020204" pitchFamily="66" charset="0"/>
                <a:cs typeface="Consolas" panose="020B0609020204030204" pitchFamily="49" charset="0"/>
              </a:rPr>
              <a:t>i</a:t>
            </a: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 + 1) = N − 1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29236C3-F450-B319-3D9E-42D2547670C6}"/>
              </a:ext>
            </a:extLst>
          </p:cNvPr>
          <p:cNvGrpSpPr/>
          <p:nvPr/>
        </p:nvGrpSpPr>
        <p:grpSpPr>
          <a:xfrm>
            <a:off x="6483938" y="2808936"/>
            <a:ext cx="292427" cy="276999"/>
            <a:chOff x="3419342" y="783226"/>
            <a:chExt cx="292427" cy="276999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499F641-80C3-E46A-DA85-2654A35B6795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C6D09F8-62F9-1E2F-F507-93E6FC38A653}"/>
                </a:ext>
              </a:extLst>
            </p:cNvPr>
            <p:cNvSpPr txBox="1"/>
            <p:nvPr/>
          </p:nvSpPr>
          <p:spPr>
            <a:xfrm>
              <a:off x="3419342" y="783226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5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F3FBE44-0B39-5BAF-12CA-ACCD2005BA40}"/>
              </a:ext>
            </a:extLst>
          </p:cNvPr>
          <p:cNvGrpSpPr/>
          <p:nvPr/>
        </p:nvGrpSpPr>
        <p:grpSpPr>
          <a:xfrm>
            <a:off x="6462565" y="4509717"/>
            <a:ext cx="292427" cy="276999"/>
            <a:chOff x="3419088" y="781583"/>
            <a:chExt cx="292427" cy="276999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0D7C88B0-033A-BE62-C114-B3557EF538C8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1B69ABF-CD31-02DD-F8F5-D372E9B673ED}"/>
                </a:ext>
              </a:extLst>
            </p:cNvPr>
            <p:cNvSpPr txBox="1"/>
            <p:nvPr/>
          </p:nvSpPr>
          <p:spPr>
            <a:xfrm>
              <a:off x="3419088" y="781583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6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sp>
        <p:nvSpPr>
          <p:cNvPr id="38" name="圆角矩形 28">
            <a:extLst>
              <a:ext uri="{FF2B5EF4-FFF2-40B4-BE49-F238E27FC236}">
                <a16:creationId xmlns:a16="http://schemas.microsoft.com/office/drawing/2014/main" id="{6DA23465-3B96-BA34-C8A3-8A7148FA04CD}"/>
              </a:ext>
            </a:extLst>
          </p:cNvPr>
          <p:cNvSpPr/>
          <p:nvPr/>
        </p:nvSpPr>
        <p:spPr>
          <a:xfrm>
            <a:off x="5533530" y="2138053"/>
            <a:ext cx="644872" cy="20835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7420BE-31E8-43D4-B66E-5554E4864352}"/>
              </a:ext>
            </a:extLst>
          </p:cNvPr>
          <p:cNvSpPr txBox="1"/>
          <p:nvPr/>
        </p:nvSpPr>
        <p:spPr>
          <a:xfrm>
            <a:off x="5493869" y="2116562"/>
            <a:ext cx="751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extend N</a:t>
            </a:r>
            <a:endParaRPr lang="en-US" altLang="zh-CN" sz="900" b="1" dirty="0">
              <a:solidFill>
                <a:schemeClr val="tx1"/>
              </a:solidFill>
              <a:latin typeface="Comic Sans MS" panose="030F0902030302020204" pitchFamily="66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6C1D011-B9EE-A838-B597-953A0EB4B385}"/>
              </a:ext>
            </a:extLst>
          </p:cNvPr>
          <p:cNvGrpSpPr/>
          <p:nvPr/>
        </p:nvGrpSpPr>
        <p:grpSpPr>
          <a:xfrm>
            <a:off x="5356013" y="2090684"/>
            <a:ext cx="292427" cy="276999"/>
            <a:chOff x="3419649" y="783286"/>
            <a:chExt cx="292427" cy="276999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AB0029-D3B6-77CA-4FD6-73EC6A88C47A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8E8256A-F12A-E4CD-62C8-79EEF11D8916}"/>
                </a:ext>
              </a:extLst>
            </p:cNvPr>
            <p:cNvSpPr txBox="1"/>
            <p:nvPr/>
          </p:nvSpPr>
          <p:spPr>
            <a:xfrm>
              <a:off x="3419649" y="783286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1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sp>
        <p:nvSpPr>
          <p:cNvPr id="46" name="圆角矩形 28">
            <a:extLst>
              <a:ext uri="{FF2B5EF4-FFF2-40B4-BE49-F238E27FC236}">
                <a16:creationId xmlns:a16="http://schemas.microsoft.com/office/drawing/2014/main" id="{F5BC04F5-2693-644B-1D18-83BD8FF5233D}"/>
              </a:ext>
            </a:extLst>
          </p:cNvPr>
          <p:cNvSpPr/>
          <p:nvPr/>
        </p:nvSpPr>
        <p:spPr>
          <a:xfrm>
            <a:off x="5547380" y="2604555"/>
            <a:ext cx="499235" cy="19598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B3EBA3C-0F6E-0941-780E-06B74A290F60}"/>
              </a:ext>
            </a:extLst>
          </p:cNvPr>
          <p:cNvSpPr txBox="1"/>
          <p:nvPr/>
        </p:nvSpPr>
        <p:spPr>
          <a:xfrm>
            <a:off x="5499430" y="2588836"/>
            <a:ext cx="6058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B = N</a:t>
            </a:r>
            <a:endParaRPr lang="en-US" altLang="zh-CN" sz="900" b="1" dirty="0">
              <a:solidFill>
                <a:schemeClr val="tx1"/>
              </a:solidFill>
              <a:latin typeface="Comic Sans MS" panose="030F0902030302020204" pitchFamily="66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17FE642-3E38-172F-B6BA-AB355E470A11}"/>
              </a:ext>
            </a:extLst>
          </p:cNvPr>
          <p:cNvGrpSpPr/>
          <p:nvPr/>
        </p:nvGrpSpPr>
        <p:grpSpPr>
          <a:xfrm>
            <a:off x="5352415" y="2569054"/>
            <a:ext cx="292427" cy="276999"/>
            <a:chOff x="3418684" y="775246"/>
            <a:chExt cx="292427" cy="276999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99EF0FE6-F91D-F86B-48FE-FD7A54F1DFB5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8A39A80-492F-AF36-C525-2F753DED8863}"/>
                </a:ext>
              </a:extLst>
            </p:cNvPr>
            <p:cNvSpPr txBox="1"/>
            <p:nvPr/>
          </p:nvSpPr>
          <p:spPr>
            <a:xfrm>
              <a:off x="3418684" y="775246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2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sp>
        <p:nvSpPr>
          <p:cNvPr id="53" name="圆角矩形 28">
            <a:extLst>
              <a:ext uri="{FF2B5EF4-FFF2-40B4-BE49-F238E27FC236}">
                <a16:creationId xmlns:a16="http://schemas.microsoft.com/office/drawing/2014/main" id="{B565A7DB-9247-89A3-8853-8A8CED893655}"/>
              </a:ext>
            </a:extLst>
          </p:cNvPr>
          <p:cNvSpPr/>
          <p:nvPr/>
        </p:nvSpPr>
        <p:spPr>
          <a:xfrm>
            <a:off x="5508758" y="3648217"/>
            <a:ext cx="474798" cy="21997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3350C3-866A-EAE1-9CB1-B3C510F3CF23}"/>
              </a:ext>
            </a:extLst>
          </p:cNvPr>
          <p:cNvSpPr txBox="1"/>
          <p:nvPr/>
        </p:nvSpPr>
        <p:spPr>
          <a:xfrm>
            <a:off x="5501350" y="3643812"/>
            <a:ext cx="4955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i + 1</a:t>
            </a:r>
            <a:endParaRPr lang="en-US" altLang="zh-CN" sz="900" b="1" dirty="0">
              <a:solidFill>
                <a:schemeClr val="tx1"/>
              </a:solidFill>
              <a:latin typeface="Comic Sans MS" panose="030F0902030302020204" pitchFamily="66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D3296901-ADF4-E2AE-DF26-5D307FD14186}"/>
              </a:ext>
            </a:extLst>
          </p:cNvPr>
          <p:cNvGrpSpPr/>
          <p:nvPr/>
        </p:nvGrpSpPr>
        <p:grpSpPr>
          <a:xfrm>
            <a:off x="5319166" y="3627358"/>
            <a:ext cx="292427" cy="276999"/>
            <a:chOff x="3425276" y="781244"/>
            <a:chExt cx="292427" cy="276999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129F481-0AC6-297F-5C9C-BB966C112C01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473C34B-714A-42D5-EBAD-1EC6A6A60CC3}"/>
                </a:ext>
              </a:extLst>
            </p:cNvPr>
            <p:cNvSpPr txBox="1"/>
            <p:nvPr/>
          </p:nvSpPr>
          <p:spPr>
            <a:xfrm>
              <a:off x="3425276" y="781244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3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sp>
        <p:nvSpPr>
          <p:cNvPr id="61" name="圆角矩形 28">
            <a:extLst>
              <a:ext uri="{FF2B5EF4-FFF2-40B4-BE49-F238E27FC236}">
                <a16:creationId xmlns:a16="http://schemas.microsoft.com/office/drawing/2014/main" id="{888CEF97-E570-C36E-7344-339E6342BD3D}"/>
              </a:ext>
            </a:extLst>
          </p:cNvPr>
          <p:cNvSpPr/>
          <p:nvPr/>
        </p:nvSpPr>
        <p:spPr>
          <a:xfrm>
            <a:off x="5499286" y="2840558"/>
            <a:ext cx="669644" cy="19484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1AF8A96-E9C9-392B-B9D3-9F658B39EEFE}"/>
              </a:ext>
            </a:extLst>
          </p:cNvPr>
          <p:cNvSpPr txBox="1"/>
          <p:nvPr/>
        </p:nvSpPr>
        <p:spPr>
          <a:xfrm>
            <a:off x="5479903" y="2827482"/>
            <a:ext cx="7334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Comic Sans MS" panose="030F0902030302020204" pitchFamily="66" charset="0"/>
                <a:ea typeface="Microsoft YaHei" panose="020B0503020204020204" pitchFamily="34" charset="-122"/>
                <a:cs typeface="Calibri" panose="020F0502020204030204" pitchFamily="34" charset="0"/>
              </a:rPr>
              <a:t>B = N - 1</a:t>
            </a:r>
            <a:endParaRPr lang="en-US" altLang="zh-CN" sz="900" b="1" dirty="0">
              <a:solidFill>
                <a:schemeClr val="tx1"/>
              </a:solidFill>
              <a:latin typeface="Comic Sans MS" panose="030F0902030302020204" pitchFamily="66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DDE4A71-7B13-B856-55AD-304AD931DE35}"/>
              </a:ext>
            </a:extLst>
          </p:cNvPr>
          <p:cNvGrpSpPr/>
          <p:nvPr/>
        </p:nvGrpSpPr>
        <p:grpSpPr>
          <a:xfrm>
            <a:off x="5339696" y="2798005"/>
            <a:ext cx="292427" cy="276999"/>
            <a:chOff x="3413887" y="781972"/>
            <a:chExt cx="292427" cy="276999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FDDBB42-6E29-5AAC-529A-1325A4D9DB36}"/>
                </a:ext>
              </a:extLst>
            </p:cNvPr>
            <p:cNvSpPr/>
            <p:nvPr/>
          </p:nvSpPr>
          <p:spPr>
            <a:xfrm>
              <a:off x="3457543" y="807331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AA5B97D-8AC5-D9A1-0ED1-A39BCA579908}"/>
                </a:ext>
              </a:extLst>
            </p:cNvPr>
            <p:cNvSpPr txBox="1"/>
            <p:nvPr/>
          </p:nvSpPr>
          <p:spPr>
            <a:xfrm>
              <a:off x="3413887" y="781972"/>
              <a:ext cx="292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4</a:t>
              </a:r>
              <a:endParaRPr kumimoji="1" lang="zh-CN" altLang="en-US" sz="1200" b="1" dirty="0">
                <a:solidFill>
                  <a:schemeClr val="bg1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</p:txBody>
        </p: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271BF0CF-C3D1-2964-4A7B-5C76DA1FF5F9}"/>
              </a:ext>
            </a:extLst>
          </p:cNvPr>
          <p:cNvSpPr txBox="1"/>
          <p:nvPr/>
        </p:nvSpPr>
        <p:spPr>
          <a:xfrm>
            <a:off x="4751685" y="4624146"/>
            <a:ext cx="1864351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nsolas" panose="020B0609020204030204" pitchFamily="49" charset="0"/>
                <a:cs typeface="Consolas" panose="020B0609020204030204" pitchFamily="49" charset="0"/>
              </a:rPr>
              <a:t>Checker logic is abridged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8CD3510-C492-ED08-192B-A7028453CEE4}"/>
              </a:ext>
            </a:extLst>
          </p:cNvPr>
          <p:cNvSpPr txBox="1"/>
          <p:nvPr/>
        </p:nvSpPr>
        <p:spPr>
          <a:xfrm>
            <a:off x="4991233" y="4499050"/>
            <a:ext cx="1530906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Bound-to-access</a:t>
            </a:r>
            <a:r>
              <a:rPr kumimoji="1" lang="zh-CN" altLang="en-US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 </a:t>
            </a: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relation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77AE654-BC4F-EA1E-13A1-5FF709470184}"/>
              </a:ext>
            </a:extLst>
          </p:cNvPr>
          <p:cNvSpPr txBox="1"/>
          <p:nvPr/>
        </p:nvSpPr>
        <p:spPr>
          <a:xfrm>
            <a:off x="5537812" y="4377317"/>
            <a:ext cx="1090973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900" b="1" dirty="0">
                <a:latin typeface="Comic Sans MS" panose="030F0902030302020204" pitchFamily="66" charset="0"/>
                <a:cs typeface="Consolas" panose="020B0609020204030204" pitchFamily="49" charset="0"/>
              </a:rPr>
              <a:t>Semantic links</a:t>
            </a:r>
          </a:p>
        </p:txBody>
      </p:sp>
      <p:cxnSp>
        <p:nvCxnSpPr>
          <p:cNvPr id="94" name="连接符: 曲线 79">
            <a:extLst>
              <a:ext uri="{FF2B5EF4-FFF2-40B4-BE49-F238E27FC236}">
                <a16:creationId xmlns:a16="http://schemas.microsoft.com/office/drawing/2014/main" id="{59EBCCCF-2B52-536D-25BA-60ADE117F1E2}"/>
              </a:ext>
            </a:extLst>
          </p:cNvPr>
          <p:cNvCxnSpPr>
            <a:cxnSpLocks/>
            <a:endCxn id="54" idx="0"/>
          </p:cNvCxnSpPr>
          <p:nvPr/>
        </p:nvCxnSpPr>
        <p:spPr>
          <a:xfrm rot="5400000">
            <a:off x="5523185" y="3300301"/>
            <a:ext cx="569466" cy="117557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曲线连接符 168">
            <a:extLst>
              <a:ext uri="{FF2B5EF4-FFF2-40B4-BE49-F238E27FC236}">
                <a16:creationId xmlns:a16="http://schemas.microsoft.com/office/drawing/2014/main" id="{C4D4E0F5-36F9-57C0-2485-568DA6E9D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96612" y="2810759"/>
            <a:ext cx="1557913" cy="39433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曲线连接符 170">
            <a:extLst>
              <a:ext uri="{FF2B5EF4-FFF2-40B4-BE49-F238E27FC236}">
                <a16:creationId xmlns:a16="http://schemas.microsoft.com/office/drawing/2014/main" id="{0562377B-C4E8-A231-E818-850A85C1F070}"/>
              </a:ext>
            </a:extLst>
          </p:cNvPr>
          <p:cNvCxnSpPr>
            <a:cxnSpLocks/>
          </p:cNvCxnSpPr>
          <p:nvPr/>
        </p:nvCxnSpPr>
        <p:spPr>
          <a:xfrm rot="5400000">
            <a:off x="5592328" y="2699507"/>
            <a:ext cx="1275127" cy="622297"/>
          </a:xfrm>
          <a:prstGeom prst="curvedConnector3">
            <a:avLst>
              <a:gd name="adj1" fmla="val 62832"/>
            </a:avLst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曲线连接符 173">
            <a:extLst>
              <a:ext uri="{FF2B5EF4-FFF2-40B4-BE49-F238E27FC236}">
                <a16:creationId xmlns:a16="http://schemas.microsoft.com/office/drawing/2014/main" id="{317B9F2C-C7CD-F626-E20C-09E625AADAB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42642" y="3302997"/>
            <a:ext cx="1074526" cy="54973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2155522E-19F8-527C-E22F-51A5F444619E}"/>
              </a:ext>
            </a:extLst>
          </p:cNvPr>
          <p:cNvSpPr txBox="1"/>
          <p:nvPr/>
        </p:nvSpPr>
        <p:spPr>
          <a:xfrm>
            <a:off x="6419457" y="4327520"/>
            <a:ext cx="3036071" cy="2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500"/>
              </a:spcBef>
            </a:pPr>
            <a:r>
              <a:rPr kumimoji="1" lang="en-US" altLang="zh-CN" sz="1000" b="1" dirty="0">
                <a:solidFill>
                  <a:schemeClr val="accent4"/>
                </a:solidFill>
                <a:latin typeface="Comic Sans MS" panose="030F0902030302020204" pitchFamily="66" charset="0"/>
                <a:cs typeface="Consolas" panose="020B0609020204030204" pitchFamily="49" charset="0"/>
              </a:rPr>
              <a:t>Tested guards normalized; no name filter</a:t>
            </a:r>
          </a:p>
        </p:txBody>
      </p:sp>
    </p:spTree>
    <p:extLst>
      <p:ext uri="{BB962C8B-B14F-4D97-AF65-F5344CB8AC3E}">
        <p14:creationId xmlns:p14="http://schemas.microsoft.com/office/powerpoint/2010/main" val="263857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2-architecture-000-text">
            <a:extLst>
              <a:ext uri="{FF2B5EF4-FFF2-40B4-BE49-F238E27FC236}">
                <a16:creationId xmlns:a16="http://schemas.microsoft.com/office/drawing/2014/main" id="{1FA67E53-D674-811C-BCDD-820914A01B2A}"/>
              </a:ext>
            </a:extLst>
          </p:cNvPr>
          <p:cNvSpPr txBox="1"/>
          <p:nvPr/>
        </p:nvSpPr>
        <p:spPr>
          <a:xfrm>
            <a:off x="4095751" y="325573"/>
            <a:ext cx="1814599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(</a:t>
            </a:r>
            <a:r>
              <a:rPr sz="1471" b="1" dirty="0">
                <a:solidFill>
                  <a:srgbClr val="FF0000"/>
                </a:solidFill>
                <a:latin typeface="Comic Sans MS" panose="030F0902030302020204" pitchFamily="66" charset="0"/>
              </a:rPr>
              <a:t>b</a:t>
            </a:r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) Evidence sources</a:t>
            </a:r>
          </a:p>
        </p:txBody>
      </p:sp>
      <p:sp>
        <p:nvSpPr>
          <p:cNvPr id="12" name="fig2-architecture-001-box">
            <a:extLst>
              <a:ext uri="{FF2B5EF4-FFF2-40B4-BE49-F238E27FC236}">
                <a16:creationId xmlns:a16="http://schemas.microsoft.com/office/drawing/2014/main" id="{303581C2-70E1-2BB3-9455-605F157B3D5F}"/>
              </a:ext>
            </a:extLst>
          </p:cNvPr>
          <p:cNvSpPr/>
          <p:nvPr/>
        </p:nvSpPr>
        <p:spPr>
          <a:xfrm>
            <a:off x="4095750" y="681404"/>
            <a:ext cx="1758462" cy="945173"/>
          </a:xfrm>
          <a:prstGeom prst="roundRect">
            <a:avLst>
              <a:gd name="adj" fmla="val 6976"/>
            </a:avLst>
          </a:prstGeom>
          <a:solidFill>
            <a:srgbClr val="EEF4FC"/>
          </a:solidFill>
          <a:ln w="20320">
            <a:solidFill>
              <a:srgbClr val="31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13" name="fig2-architecture-002-text">
            <a:extLst>
              <a:ext uri="{FF2B5EF4-FFF2-40B4-BE49-F238E27FC236}">
                <a16:creationId xmlns:a16="http://schemas.microsoft.com/office/drawing/2014/main" id="{7DB9CF64-98DF-D8CF-198B-C977F5F37A3E}"/>
              </a:ext>
            </a:extLst>
          </p:cNvPr>
          <p:cNvSpPr txBox="1"/>
          <p:nvPr/>
        </p:nvSpPr>
        <p:spPr>
          <a:xfrm>
            <a:off x="4243851" y="823129"/>
            <a:ext cx="1476366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315F98"/>
                </a:solidFill>
                <a:latin typeface="Comic Sans MS" panose="030F0902030302020204" pitchFamily="66" charset="0"/>
              </a:rPr>
              <a:t>Analyzer-native</a:t>
            </a:r>
          </a:p>
        </p:txBody>
      </p:sp>
      <p:sp>
        <p:nvSpPr>
          <p:cNvPr id="14" name="fig2-architecture-003-text">
            <a:extLst>
              <a:ext uri="{FF2B5EF4-FFF2-40B4-BE49-F238E27FC236}">
                <a16:creationId xmlns:a16="http://schemas.microsoft.com/office/drawing/2014/main" id="{3B6521A4-8C46-8674-53A1-B42F4BF4F992}"/>
              </a:ext>
            </a:extLst>
          </p:cNvPr>
          <p:cNvSpPr txBox="1"/>
          <p:nvPr/>
        </p:nvSpPr>
        <p:spPr>
          <a:xfrm>
            <a:off x="4310872" y="1120082"/>
            <a:ext cx="1378583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CFG / call graph</a:t>
            </a:r>
          </a:p>
        </p:txBody>
      </p:sp>
      <p:sp>
        <p:nvSpPr>
          <p:cNvPr id="15" name="fig2-architecture-004-text">
            <a:extLst>
              <a:ext uri="{FF2B5EF4-FFF2-40B4-BE49-F238E27FC236}">
                <a16:creationId xmlns:a16="http://schemas.microsoft.com/office/drawing/2014/main" id="{AA588B12-21AF-5022-1E75-6C2A9C42B56C}"/>
              </a:ext>
            </a:extLst>
          </p:cNvPr>
          <p:cNvSpPr txBox="1"/>
          <p:nvPr/>
        </p:nvSpPr>
        <p:spPr>
          <a:xfrm>
            <a:off x="4361471" y="1361871"/>
            <a:ext cx="1328890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Optional traces</a:t>
            </a:r>
          </a:p>
        </p:txBody>
      </p:sp>
      <p:cxnSp>
        <p:nvCxnSpPr>
          <p:cNvPr id="16" name="fig2-architecture-005-line">
            <a:extLst>
              <a:ext uri="{FF2B5EF4-FFF2-40B4-BE49-F238E27FC236}">
                <a16:creationId xmlns:a16="http://schemas.microsoft.com/office/drawing/2014/main" id="{40C206CE-0DFA-98A8-92DC-DDC73EE9A2C9}"/>
              </a:ext>
            </a:extLst>
          </p:cNvPr>
          <p:cNvCxnSpPr/>
          <p:nvPr/>
        </p:nvCxnSpPr>
        <p:spPr>
          <a:xfrm>
            <a:off x="4974981" y="1626577"/>
            <a:ext cx="0" cy="28575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ig2-architecture-006-box">
            <a:extLst>
              <a:ext uri="{FF2B5EF4-FFF2-40B4-BE49-F238E27FC236}">
                <a16:creationId xmlns:a16="http://schemas.microsoft.com/office/drawing/2014/main" id="{D837080D-F725-8845-9765-14A06AE01D71}"/>
              </a:ext>
            </a:extLst>
          </p:cNvPr>
          <p:cNvSpPr/>
          <p:nvPr/>
        </p:nvSpPr>
        <p:spPr>
          <a:xfrm>
            <a:off x="6249865" y="681404"/>
            <a:ext cx="1758462" cy="945173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18" name="fig2-architecture-007-text">
            <a:extLst>
              <a:ext uri="{FF2B5EF4-FFF2-40B4-BE49-F238E27FC236}">
                <a16:creationId xmlns:a16="http://schemas.microsoft.com/office/drawing/2014/main" id="{703A01BD-56A7-9C93-C30E-3E4B4588DCEC}"/>
              </a:ext>
            </a:extLst>
          </p:cNvPr>
          <p:cNvSpPr txBox="1"/>
          <p:nvPr/>
        </p:nvSpPr>
        <p:spPr>
          <a:xfrm>
            <a:off x="6414533" y="823129"/>
            <a:ext cx="1442703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617084"/>
                </a:solidFill>
                <a:latin typeface="Comic Sans MS" panose="030F0902030302020204" pitchFamily="66" charset="0"/>
              </a:rPr>
              <a:t>Source context</a:t>
            </a:r>
          </a:p>
        </p:txBody>
      </p:sp>
      <p:sp>
        <p:nvSpPr>
          <p:cNvPr id="19" name="fig2-architecture-008-text">
            <a:extLst>
              <a:ext uri="{FF2B5EF4-FFF2-40B4-BE49-F238E27FC236}">
                <a16:creationId xmlns:a16="http://schemas.microsoft.com/office/drawing/2014/main" id="{5CA54EFD-FD5F-9496-9FDA-25F32D7FD07D}"/>
              </a:ext>
            </a:extLst>
          </p:cNvPr>
          <p:cNvSpPr txBox="1"/>
          <p:nvPr/>
        </p:nvSpPr>
        <p:spPr>
          <a:xfrm>
            <a:off x="6546008" y="1120082"/>
            <a:ext cx="1247136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Patch / source</a:t>
            </a:r>
          </a:p>
        </p:txBody>
      </p:sp>
      <p:sp>
        <p:nvSpPr>
          <p:cNvPr id="20" name="fig2-architecture-009-text">
            <a:extLst>
              <a:ext uri="{FF2B5EF4-FFF2-40B4-BE49-F238E27FC236}">
                <a16:creationId xmlns:a16="http://schemas.microsoft.com/office/drawing/2014/main" id="{4B016F9F-ED15-7EE4-2AC5-78FD7B77CD5E}"/>
              </a:ext>
            </a:extLst>
          </p:cNvPr>
          <p:cNvSpPr txBox="1"/>
          <p:nvPr/>
        </p:nvSpPr>
        <p:spPr>
          <a:xfrm>
            <a:off x="6444410" y="1361871"/>
            <a:ext cx="1447512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Bounded context</a:t>
            </a:r>
          </a:p>
        </p:txBody>
      </p:sp>
      <p:cxnSp>
        <p:nvCxnSpPr>
          <p:cNvPr id="21" name="fig2-architecture-010-line">
            <a:extLst>
              <a:ext uri="{FF2B5EF4-FFF2-40B4-BE49-F238E27FC236}">
                <a16:creationId xmlns:a16="http://schemas.microsoft.com/office/drawing/2014/main" id="{FD45BDDB-A70D-346D-058A-0B23B64A9483}"/>
              </a:ext>
            </a:extLst>
          </p:cNvPr>
          <p:cNvCxnSpPr/>
          <p:nvPr/>
        </p:nvCxnSpPr>
        <p:spPr>
          <a:xfrm>
            <a:off x="7129096" y="1626577"/>
            <a:ext cx="0" cy="28575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ig2-architecture-011-box">
            <a:extLst>
              <a:ext uri="{FF2B5EF4-FFF2-40B4-BE49-F238E27FC236}">
                <a16:creationId xmlns:a16="http://schemas.microsoft.com/office/drawing/2014/main" id="{7E64FB94-649E-14F3-2F03-6EF2A4BFCDA3}"/>
              </a:ext>
            </a:extLst>
          </p:cNvPr>
          <p:cNvSpPr/>
          <p:nvPr/>
        </p:nvSpPr>
        <p:spPr>
          <a:xfrm>
            <a:off x="8403981" y="681404"/>
            <a:ext cx="1846385" cy="945173"/>
          </a:xfrm>
          <a:prstGeom prst="roundRect">
            <a:avLst>
              <a:gd name="adj" fmla="val 6976"/>
            </a:avLst>
          </a:prstGeom>
          <a:solidFill>
            <a:srgbClr val="FFF5E9"/>
          </a:solidFill>
          <a:ln w="20320">
            <a:solidFill>
              <a:srgbClr val="A66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23" name="fig2-architecture-012-text">
            <a:extLst>
              <a:ext uri="{FF2B5EF4-FFF2-40B4-BE49-F238E27FC236}">
                <a16:creationId xmlns:a16="http://schemas.microsoft.com/office/drawing/2014/main" id="{8BA8DE47-1D32-9835-6689-42CE296B2A12}"/>
              </a:ext>
            </a:extLst>
          </p:cNvPr>
          <p:cNvSpPr txBox="1"/>
          <p:nvPr/>
        </p:nvSpPr>
        <p:spPr>
          <a:xfrm>
            <a:off x="8579816" y="823129"/>
            <a:ext cx="1510029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A66024"/>
                </a:solidFill>
                <a:latin typeface="Comic Sans MS" panose="030F0902030302020204" pitchFamily="66" charset="0"/>
              </a:rPr>
              <a:t>Analyzer output</a:t>
            </a:r>
          </a:p>
        </p:txBody>
      </p:sp>
      <p:sp>
        <p:nvSpPr>
          <p:cNvPr id="24" name="fig2-architecture-013-text">
            <a:extLst>
              <a:ext uri="{FF2B5EF4-FFF2-40B4-BE49-F238E27FC236}">
                <a16:creationId xmlns:a16="http://schemas.microsoft.com/office/drawing/2014/main" id="{A509938B-8244-2614-4D35-2499D9C7CF8E}"/>
              </a:ext>
            </a:extLst>
          </p:cNvPr>
          <p:cNvSpPr txBox="1"/>
          <p:nvPr/>
        </p:nvSpPr>
        <p:spPr>
          <a:xfrm>
            <a:off x="8642621" y="1120082"/>
            <a:ext cx="1433085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Build diagnostics</a:t>
            </a:r>
          </a:p>
        </p:txBody>
      </p:sp>
      <p:sp>
        <p:nvSpPr>
          <p:cNvPr id="25" name="fig2-architecture-014-text">
            <a:extLst>
              <a:ext uri="{FF2B5EF4-FFF2-40B4-BE49-F238E27FC236}">
                <a16:creationId xmlns:a16="http://schemas.microsoft.com/office/drawing/2014/main" id="{386E9186-B5AF-8490-01D2-2CCD405E47A8}"/>
              </a:ext>
            </a:extLst>
          </p:cNvPr>
          <p:cNvSpPr txBox="1"/>
          <p:nvPr/>
        </p:nvSpPr>
        <p:spPr>
          <a:xfrm>
            <a:off x="8673087" y="1361871"/>
            <a:ext cx="1322478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Paired warnings</a:t>
            </a:r>
          </a:p>
        </p:txBody>
      </p:sp>
      <p:cxnSp>
        <p:nvCxnSpPr>
          <p:cNvPr id="26" name="fig2-architecture-015-line">
            <a:extLst>
              <a:ext uri="{FF2B5EF4-FFF2-40B4-BE49-F238E27FC236}">
                <a16:creationId xmlns:a16="http://schemas.microsoft.com/office/drawing/2014/main" id="{ACBAF1F5-9507-B9F9-4A48-16CE8302F726}"/>
              </a:ext>
            </a:extLst>
          </p:cNvPr>
          <p:cNvCxnSpPr/>
          <p:nvPr/>
        </p:nvCxnSpPr>
        <p:spPr>
          <a:xfrm>
            <a:off x="9327173" y="1626577"/>
            <a:ext cx="0" cy="28575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ig2-architecture-016-line">
            <a:extLst>
              <a:ext uri="{FF2B5EF4-FFF2-40B4-BE49-F238E27FC236}">
                <a16:creationId xmlns:a16="http://schemas.microsoft.com/office/drawing/2014/main" id="{8C4D4A87-D38C-FBA9-5DD7-621EE885B539}"/>
              </a:ext>
            </a:extLst>
          </p:cNvPr>
          <p:cNvCxnSpPr/>
          <p:nvPr/>
        </p:nvCxnSpPr>
        <p:spPr>
          <a:xfrm>
            <a:off x="4974981" y="1912327"/>
            <a:ext cx="4352192" cy="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ig2-architecture-017-line">
            <a:extLst>
              <a:ext uri="{FF2B5EF4-FFF2-40B4-BE49-F238E27FC236}">
                <a16:creationId xmlns:a16="http://schemas.microsoft.com/office/drawing/2014/main" id="{230A79B4-53EF-724F-F045-6B10691C6B45}"/>
              </a:ext>
            </a:extLst>
          </p:cNvPr>
          <p:cNvCxnSpPr/>
          <p:nvPr/>
        </p:nvCxnSpPr>
        <p:spPr>
          <a:xfrm>
            <a:off x="4974981" y="1912327"/>
            <a:ext cx="0" cy="593481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ig2-architecture-018-text">
            <a:extLst>
              <a:ext uri="{FF2B5EF4-FFF2-40B4-BE49-F238E27FC236}">
                <a16:creationId xmlns:a16="http://schemas.microsoft.com/office/drawing/2014/main" id="{150792EF-D19D-637D-2367-D808E12922C3}"/>
              </a:ext>
            </a:extLst>
          </p:cNvPr>
          <p:cNvSpPr txBox="1"/>
          <p:nvPr/>
        </p:nvSpPr>
        <p:spPr>
          <a:xfrm>
            <a:off x="1941635" y="2062054"/>
            <a:ext cx="872034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(</a:t>
            </a:r>
            <a:r>
              <a:rPr sz="1471" b="1" dirty="0">
                <a:solidFill>
                  <a:srgbClr val="FF0000"/>
                </a:solidFill>
                <a:latin typeface="Comic Sans MS" panose="030F0902030302020204" pitchFamily="66" charset="0"/>
              </a:rPr>
              <a:t>a</a:t>
            </a:r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) Inputs</a:t>
            </a:r>
          </a:p>
        </p:txBody>
      </p:sp>
      <p:sp>
        <p:nvSpPr>
          <p:cNvPr id="30" name="fig2-architecture-019-text">
            <a:extLst>
              <a:ext uri="{FF2B5EF4-FFF2-40B4-BE49-F238E27FC236}">
                <a16:creationId xmlns:a16="http://schemas.microsoft.com/office/drawing/2014/main" id="{57CA3FA0-06D5-9C0A-A1D8-EAE4D38289E3}"/>
              </a:ext>
            </a:extLst>
          </p:cNvPr>
          <p:cNvSpPr txBox="1"/>
          <p:nvPr/>
        </p:nvSpPr>
        <p:spPr>
          <a:xfrm>
            <a:off x="6249866" y="2062054"/>
            <a:ext cx="1308050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(</a:t>
            </a:r>
            <a:r>
              <a:rPr sz="1471" b="1" dirty="0">
                <a:solidFill>
                  <a:srgbClr val="FF0000"/>
                </a:solidFill>
                <a:latin typeface="Comic Sans MS" panose="030F0902030302020204" pitchFamily="66" charset="0"/>
              </a:rPr>
              <a:t>c</a:t>
            </a:r>
            <a:r>
              <a:rPr sz="1471" b="1" dirty="0">
                <a:solidFill>
                  <a:srgbClr val="617084"/>
                </a:solidFill>
                <a:latin typeface="Comic Sans MS" panose="030F0902030302020204" pitchFamily="66" charset="0"/>
              </a:rPr>
              <a:t>) Refinement</a:t>
            </a:r>
          </a:p>
        </p:txBody>
      </p:sp>
      <p:sp>
        <p:nvSpPr>
          <p:cNvPr id="31" name="fig2-architecture-020-box">
            <a:extLst>
              <a:ext uri="{FF2B5EF4-FFF2-40B4-BE49-F238E27FC236}">
                <a16:creationId xmlns:a16="http://schemas.microsoft.com/office/drawing/2014/main" id="{D387339B-EB69-35ED-53D5-7C4C96E9731C}"/>
              </a:ext>
            </a:extLst>
          </p:cNvPr>
          <p:cNvSpPr/>
          <p:nvPr/>
        </p:nvSpPr>
        <p:spPr>
          <a:xfrm>
            <a:off x="1941634" y="2505808"/>
            <a:ext cx="1758462" cy="967154"/>
          </a:xfrm>
          <a:prstGeom prst="roundRect">
            <a:avLst>
              <a:gd name="adj" fmla="val 6818"/>
            </a:avLst>
          </a:prstGeom>
          <a:solidFill>
            <a:srgbClr val="F3F5F8"/>
          </a:solidFill>
          <a:ln w="20320">
            <a:solidFill>
              <a:srgbClr val="B9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32" name="fig2-architecture-021-text">
            <a:extLst>
              <a:ext uri="{FF2B5EF4-FFF2-40B4-BE49-F238E27FC236}">
                <a16:creationId xmlns:a16="http://schemas.microsoft.com/office/drawing/2014/main" id="{CBF9EB85-8A7C-9BCB-E63A-7F8852B71CD3}"/>
              </a:ext>
            </a:extLst>
          </p:cNvPr>
          <p:cNvSpPr txBox="1"/>
          <p:nvPr/>
        </p:nvSpPr>
        <p:spPr>
          <a:xfrm>
            <a:off x="2053948" y="2647533"/>
            <a:ext cx="1548501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243448"/>
                </a:solidFill>
                <a:latin typeface="Comic Sans MS" panose="030F0902030302020204" pitchFamily="66" charset="0"/>
              </a:rPr>
              <a:t>Checker + patch</a:t>
            </a:r>
          </a:p>
        </p:txBody>
      </p:sp>
      <p:sp>
        <p:nvSpPr>
          <p:cNvPr id="33" name="fig2-architecture-022-text">
            <a:extLst>
              <a:ext uri="{FF2B5EF4-FFF2-40B4-BE49-F238E27FC236}">
                <a16:creationId xmlns:a16="http://schemas.microsoft.com/office/drawing/2014/main" id="{DDE0A0DD-B034-8736-5E14-AF03E0A91959}"/>
              </a:ext>
            </a:extLst>
          </p:cNvPr>
          <p:cNvSpPr txBox="1"/>
          <p:nvPr/>
        </p:nvSpPr>
        <p:spPr>
          <a:xfrm>
            <a:off x="2223773" y="2941285"/>
            <a:ext cx="1242328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>
                <a:solidFill>
                  <a:srgbClr val="243448"/>
                </a:solidFill>
                <a:latin typeface="Comic Sans MS" panose="030F0902030302020204" pitchFamily="66" charset="0"/>
              </a:rPr>
              <a:t>Frozen source</a:t>
            </a:r>
          </a:p>
        </p:txBody>
      </p:sp>
      <p:sp>
        <p:nvSpPr>
          <p:cNvPr id="34" name="fig2-architecture-023-text">
            <a:extLst>
              <a:ext uri="{FF2B5EF4-FFF2-40B4-BE49-F238E27FC236}">
                <a16:creationId xmlns:a16="http://schemas.microsoft.com/office/drawing/2014/main" id="{AE5EA282-9F6C-446F-D91B-45206DC139A2}"/>
              </a:ext>
            </a:extLst>
          </p:cNvPr>
          <p:cNvSpPr txBox="1"/>
          <p:nvPr/>
        </p:nvSpPr>
        <p:spPr>
          <a:xfrm>
            <a:off x="2125063" y="3183073"/>
            <a:ext cx="1508426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>
                <a:solidFill>
                  <a:srgbClr val="243448"/>
                </a:solidFill>
                <a:latin typeface="Comic Sans MS" panose="030F0902030302020204" pitchFamily="66" charset="0"/>
              </a:rPr>
              <a:t>V/F object scope</a:t>
            </a:r>
          </a:p>
        </p:txBody>
      </p:sp>
      <p:sp>
        <p:nvSpPr>
          <p:cNvPr id="35" name="fig2-architecture-024-box">
            <a:extLst>
              <a:ext uri="{FF2B5EF4-FFF2-40B4-BE49-F238E27FC236}">
                <a16:creationId xmlns:a16="http://schemas.microsoft.com/office/drawing/2014/main" id="{B86DE867-7461-2C08-8D92-1229B53262BD}"/>
              </a:ext>
            </a:extLst>
          </p:cNvPr>
          <p:cNvSpPr/>
          <p:nvPr/>
        </p:nvSpPr>
        <p:spPr>
          <a:xfrm>
            <a:off x="4095750" y="2505808"/>
            <a:ext cx="1758462" cy="96715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36" name="fig2-architecture-025-text">
            <a:extLst>
              <a:ext uri="{FF2B5EF4-FFF2-40B4-BE49-F238E27FC236}">
                <a16:creationId xmlns:a16="http://schemas.microsoft.com/office/drawing/2014/main" id="{76A3B684-71CB-5A0C-9BC8-78F814F13722}"/>
              </a:ext>
            </a:extLst>
          </p:cNvPr>
          <p:cNvSpPr txBox="1"/>
          <p:nvPr/>
        </p:nvSpPr>
        <p:spPr>
          <a:xfrm>
            <a:off x="4188986" y="2647533"/>
            <a:ext cx="1487587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243448"/>
                </a:solidFill>
                <a:latin typeface="Comic Sans MS" panose="030F0902030302020204" pitchFamily="66" charset="0"/>
              </a:rPr>
              <a:t>Evidence bundle</a:t>
            </a:r>
          </a:p>
        </p:txBody>
      </p:sp>
      <p:sp>
        <p:nvSpPr>
          <p:cNvPr id="37" name="fig2-architecture-026-text">
            <a:extLst>
              <a:ext uri="{FF2B5EF4-FFF2-40B4-BE49-F238E27FC236}">
                <a16:creationId xmlns:a16="http://schemas.microsoft.com/office/drawing/2014/main" id="{BED1C27B-A7E4-ECFA-9918-FA4E2BD27B2D}"/>
              </a:ext>
            </a:extLst>
          </p:cNvPr>
          <p:cNvSpPr txBox="1"/>
          <p:nvPr/>
        </p:nvSpPr>
        <p:spPr>
          <a:xfrm>
            <a:off x="4390751" y="2941285"/>
            <a:ext cx="1189428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>
                <a:solidFill>
                  <a:srgbClr val="243448"/>
                </a:solidFill>
                <a:latin typeface="Comic Sans MS" panose="030F0902030302020204" pitchFamily="66" charset="0"/>
              </a:rPr>
              <a:t>origin + scope</a:t>
            </a:r>
          </a:p>
        </p:txBody>
      </p:sp>
      <p:sp>
        <p:nvSpPr>
          <p:cNvPr id="38" name="fig2-architecture-027-text">
            <a:extLst>
              <a:ext uri="{FF2B5EF4-FFF2-40B4-BE49-F238E27FC236}">
                <a16:creationId xmlns:a16="http://schemas.microsoft.com/office/drawing/2014/main" id="{3BB3760F-F31A-1B3A-D7B3-D2C2D76A363B}"/>
              </a:ext>
            </a:extLst>
          </p:cNvPr>
          <p:cNvSpPr txBox="1"/>
          <p:nvPr/>
        </p:nvSpPr>
        <p:spPr>
          <a:xfrm>
            <a:off x="4305087" y="3183073"/>
            <a:ext cx="1429879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>
                <a:solidFill>
                  <a:srgbClr val="243448"/>
                </a:solidFill>
                <a:latin typeface="Comic Sans MS" panose="030F0902030302020204" pitchFamily="66" charset="0"/>
              </a:rPr>
              <a:t>raw-output hash</a:t>
            </a:r>
          </a:p>
        </p:txBody>
      </p:sp>
      <p:sp>
        <p:nvSpPr>
          <p:cNvPr id="39" name="fig2-architecture-028-box">
            <a:extLst>
              <a:ext uri="{FF2B5EF4-FFF2-40B4-BE49-F238E27FC236}">
                <a16:creationId xmlns:a16="http://schemas.microsoft.com/office/drawing/2014/main" id="{55A28D29-FABB-D1C6-76E1-BC7631B48D78}"/>
              </a:ext>
            </a:extLst>
          </p:cNvPr>
          <p:cNvSpPr/>
          <p:nvPr/>
        </p:nvSpPr>
        <p:spPr>
          <a:xfrm>
            <a:off x="6249865" y="2505808"/>
            <a:ext cx="1758462" cy="96715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0320">
            <a:solidFill>
              <a:srgbClr val="24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40" name="fig2-architecture-029-text">
            <a:extLst>
              <a:ext uri="{FF2B5EF4-FFF2-40B4-BE49-F238E27FC236}">
                <a16:creationId xmlns:a16="http://schemas.microsoft.com/office/drawing/2014/main" id="{C30445B2-9931-DF44-BC33-AAA777D7A6FD}"/>
              </a:ext>
            </a:extLst>
          </p:cNvPr>
          <p:cNvSpPr txBox="1"/>
          <p:nvPr/>
        </p:nvSpPr>
        <p:spPr>
          <a:xfrm>
            <a:off x="6677353" y="2719455"/>
            <a:ext cx="923330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b="1">
                <a:solidFill>
                  <a:srgbClr val="243448"/>
                </a:solidFill>
                <a:latin typeface="Comic Sans MS" panose="030F0902030302020204" pitchFamily="66" charset="0"/>
              </a:rPr>
              <a:t>LLM edit</a:t>
            </a:r>
          </a:p>
        </p:txBody>
      </p:sp>
      <p:sp>
        <p:nvSpPr>
          <p:cNvPr id="41" name="fig2-architecture-030-text">
            <a:extLst>
              <a:ext uri="{FF2B5EF4-FFF2-40B4-BE49-F238E27FC236}">
                <a16:creationId xmlns:a16="http://schemas.microsoft.com/office/drawing/2014/main" id="{8B482AB6-1E3B-1006-C396-C23DC7B38C8B}"/>
              </a:ext>
            </a:extLst>
          </p:cNvPr>
          <p:cNvSpPr txBox="1"/>
          <p:nvPr/>
        </p:nvSpPr>
        <p:spPr>
          <a:xfrm>
            <a:off x="6459203" y="3073169"/>
            <a:ext cx="1497205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>
                <a:solidFill>
                  <a:srgbClr val="243448"/>
                </a:solidFill>
                <a:latin typeface="Comic Sans MS" panose="030F0902030302020204" pitchFamily="66" charset="0"/>
              </a:rPr>
              <a:t>Latest attempt L</a:t>
            </a:r>
          </a:p>
        </p:txBody>
      </p:sp>
      <p:sp>
        <p:nvSpPr>
          <p:cNvPr id="42" name="fig2-architecture-031-box">
            <a:extLst>
              <a:ext uri="{FF2B5EF4-FFF2-40B4-BE49-F238E27FC236}">
                <a16:creationId xmlns:a16="http://schemas.microsoft.com/office/drawing/2014/main" id="{E895F5C4-BC8C-DE24-9446-8293B99EF820}"/>
              </a:ext>
            </a:extLst>
          </p:cNvPr>
          <p:cNvSpPr/>
          <p:nvPr/>
        </p:nvSpPr>
        <p:spPr>
          <a:xfrm>
            <a:off x="8403981" y="2505808"/>
            <a:ext cx="1846385" cy="967154"/>
          </a:xfrm>
          <a:prstGeom prst="roundRect">
            <a:avLst>
              <a:gd name="adj" fmla="val 6818"/>
            </a:avLst>
          </a:prstGeom>
          <a:solidFill>
            <a:srgbClr val="FFF5E9"/>
          </a:solidFill>
          <a:ln w="20320">
            <a:solidFill>
              <a:srgbClr val="A66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43" name="fig2-architecture-032-text">
            <a:extLst>
              <a:ext uri="{FF2B5EF4-FFF2-40B4-BE49-F238E27FC236}">
                <a16:creationId xmlns:a16="http://schemas.microsoft.com/office/drawing/2014/main" id="{D519C46F-8592-8494-DE64-CA0369B6038E}"/>
              </a:ext>
            </a:extLst>
          </p:cNvPr>
          <p:cNvSpPr txBox="1"/>
          <p:nvPr/>
        </p:nvSpPr>
        <p:spPr>
          <a:xfrm>
            <a:off x="8566425" y="2729056"/>
            <a:ext cx="1391407" cy="2503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27" b="1">
                <a:solidFill>
                  <a:srgbClr val="243448"/>
                </a:solidFill>
                <a:latin typeface="Comic Sans MS" panose="030F0902030302020204" pitchFamily="66" charset="0"/>
              </a:rPr>
              <a:t>Compile + scan</a:t>
            </a:r>
          </a:p>
        </p:txBody>
      </p:sp>
      <p:sp>
        <p:nvSpPr>
          <p:cNvPr id="44" name="fig2-architecture-033-text">
            <a:extLst>
              <a:ext uri="{FF2B5EF4-FFF2-40B4-BE49-F238E27FC236}">
                <a16:creationId xmlns:a16="http://schemas.microsoft.com/office/drawing/2014/main" id="{79E205E8-9AAE-26AC-0A59-83788C3A1D14}"/>
              </a:ext>
            </a:extLst>
          </p:cNvPr>
          <p:cNvSpPr txBox="1"/>
          <p:nvPr/>
        </p:nvSpPr>
        <p:spPr>
          <a:xfrm>
            <a:off x="8637543" y="3076371"/>
            <a:ext cx="1542089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vulnerable / fixed</a:t>
            </a:r>
          </a:p>
        </p:txBody>
      </p:sp>
      <p:cxnSp>
        <p:nvCxnSpPr>
          <p:cNvPr id="48" name="Connector 38">
            <a:extLst>
              <a:ext uri="{FF2B5EF4-FFF2-40B4-BE49-F238E27FC236}">
                <a16:creationId xmlns:a16="http://schemas.microsoft.com/office/drawing/2014/main" id="{8CE12EF4-F31B-6640-6256-52167D2588CA}"/>
              </a:ext>
            </a:extLst>
          </p:cNvPr>
          <p:cNvCxnSpPr/>
          <p:nvPr/>
        </p:nvCxnSpPr>
        <p:spPr>
          <a:xfrm>
            <a:off x="8755673" y="3472961"/>
            <a:ext cx="0" cy="417635"/>
          </a:xfrm>
          <a:prstGeom prst="line">
            <a:avLst/>
          </a:prstGeom>
          <a:ln w="25400">
            <a:solidFill>
              <a:srgbClr val="A660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39">
            <a:extLst>
              <a:ext uri="{FF2B5EF4-FFF2-40B4-BE49-F238E27FC236}">
                <a16:creationId xmlns:a16="http://schemas.microsoft.com/office/drawing/2014/main" id="{C2AD2B48-2A1E-B7EE-16D3-9B22B1C0ADC9}"/>
              </a:ext>
            </a:extLst>
          </p:cNvPr>
          <p:cNvCxnSpPr/>
          <p:nvPr/>
        </p:nvCxnSpPr>
        <p:spPr>
          <a:xfrm flipH="1">
            <a:off x="7129096" y="3890596"/>
            <a:ext cx="1626577" cy="0"/>
          </a:xfrm>
          <a:prstGeom prst="line">
            <a:avLst/>
          </a:prstGeom>
          <a:ln w="25400">
            <a:solidFill>
              <a:srgbClr val="A660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fig2-architecture-037-line">
            <a:extLst>
              <a:ext uri="{FF2B5EF4-FFF2-40B4-BE49-F238E27FC236}">
                <a16:creationId xmlns:a16="http://schemas.microsoft.com/office/drawing/2014/main" id="{09E7B50B-E63B-E2A8-E04A-99FAE383D3BD}"/>
              </a:ext>
            </a:extLst>
          </p:cNvPr>
          <p:cNvCxnSpPr/>
          <p:nvPr/>
        </p:nvCxnSpPr>
        <p:spPr>
          <a:xfrm flipV="1">
            <a:off x="7129096" y="3472961"/>
            <a:ext cx="0" cy="417635"/>
          </a:xfrm>
          <a:prstGeom prst="line">
            <a:avLst/>
          </a:prstGeom>
          <a:ln w="25400">
            <a:solidFill>
              <a:srgbClr val="A660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ig2-architecture-038-box">
            <a:extLst>
              <a:ext uri="{FF2B5EF4-FFF2-40B4-BE49-F238E27FC236}">
                <a16:creationId xmlns:a16="http://schemas.microsoft.com/office/drawing/2014/main" id="{BA3A626D-A729-9966-6FCA-DCC6797ECCA8}"/>
              </a:ext>
            </a:extLst>
          </p:cNvPr>
          <p:cNvSpPr/>
          <p:nvPr/>
        </p:nvSpPr>
        <p:spPr>
          <a:xfrm>
            <a:off x="7260981" y="3758712"/>
            <a:ext cx="1362808" cy="263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52" name="fig2-architecture-039-text">
            <a:extLst>
              <a:ext uri="{FF2B5EF4-FFF2-40B4-BE49-F238E27FC236}">
                <a16:creationId xmlns:a16="http://schemas.microsoft.com/office/drawing/2014/main" id="{2C82258A-1D1A-27A8-0E6D-AEEFED14CBAC}"/>
              </a:ext>
            </a:extLst>
          </p:cNvPr>
          <p:cNvSpPr txBox="1"/>
          <p:nvPr/>
        </p:nvSpPr>
        <p:spPr>
          <a:xfrm>
            <a:off x="7294681" y="3828517"/>
            <a:ext cx="1351332" cy="2131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85">
                <a:solidFill>
                  <a:srgbClr val="A66024"/>
                </a:solidFill>
                <a:latin typeface="Comic Sans MS" panose="030F0902030302020204" pitchFamily="66" charset="0"/>
              </a:rPr>
              <a:t>code + feedback</a:t>
            </a:r>
          </a:p>
        </p:txBody>
      </p:sp>
      <p:cxnSp>
        <p:nvCxnSpPr>
          <p:cNvPr id="53" name="fig2-architecture-040-line">
            <a:extLst>
              <a:ext uri="{FF2B5EF4-FFF2-40B4-BE49-F238E27FC236}">
                <a16:creationId xmlns:a16="http://schemas.microsoft.com/office/drawing/2014/main" id="{1384020B-1530-DA15-ECBE-3D6385C771B5}"/>
              </a:ext>
            </a:extLst>
          </p:cNvPr>
          <p:cNvCxnSpPr/>
          <p:nvPr/>
        </p:nvCxnSpPr>
        <p:spPr>
          <a:xfrm>
            <a:off x="9371135" y="3472962"/>
            <a:ext cx="0" cy="945173"/>
          </a:xfrm>
          <a:prstGeom prst="line">
            <a:avLst/>
          </a:prstGeom>
          <a:ln w="25400">
            <a:solidFill>
              <a:srgbClr val="26756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ig2-architecture-041-text">
            <a:extLst>
              <a:ext uri="{FF2B5EF4-FFF2-40B4-BE49-F238E27FC236}">
                <a16:creationId xmlns:a16="http://schemas.microsoft.com/office/drawing/2014/main" id="{F5087BE6-CCC6-F273-09A5-1B90032F3CDA}"/>
              </a:ext>
            </a:extLst>
          </p:cNvPr>
          <p:cNvSpPr txBox="1"/>
          <p:nvPr/>
        </p:nvSpPr>
        <p:spPr>
          <a:xfrm>
            <a:off x="9486417" y="3968343"/>
            <a:ext cx="549831" cy="2131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85" dirty="0">
                <a:solidFill>
                  <a:srgbClr val="267560"/>
                </a:solidFill>
                <a:latin typeface="Comic Sans MS" panose="030F0902030302020204" pitchFamily="66" charset="0"/>
              </a:rPr>
              <a:t>accept</a:t>
            </a:r>
          </a:p>
        </p:txBody>
      </p:sp>
      <p:sp>
        <p:nvSpPr>
          <p:cNvPr id="55" name="fig2-architecture-042-box">
            <a:extLst>
              <a:ext uri="{FF2B5EF4-FFF2-40B4-BE49-F238E27FC236}">
                <a16:creationId xmlns:a16="http://schemas.microsoft.com/office/drawing/2014/main" id="{D6FD8B2F-43CC-D744-764A-13746BA13A39}"/>
              </a:ext>
            </a:extLst>
          </p:cNvPr>
          <p:cNvSpPr/>
          <p:nvPr/>
        </p:nvSpPr>
        <p:spPr>
          <a:xfrm>
            <a:off x="8403981" y="4418135"/>
            <a:ext cx="1846385" cy="681404"/>
          </a:xfrm>
          <a:prstGeom prst="roundRect">
            <a:avLst>
              <a:gd name="adj" fmla="val 9677"/>
            </a:avLst>
          </a:prstGeom>
          <a:solidFill>
            <a:srgbClr val="EDF7F2"/>
          </a:solidFill>
          <a:ln w="20320">
            <a:solidFill>
              <a:srgbClr val="267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>
              <a:latin typeface="Comic Sans MS" panose="030F0902030302020204" pitchFamily="66" charset="0"/>
            </a:endParaRPr>
          </a:p>
        </p:txBody>
      </p:sp>
      <p:sp>
        <p:nvSpPr>
          <p:cNvPr id="56" name="fig2-architecture-043-text">
            <a:extLst>
              <a:ext uri="{FF2B5EF4-FFF2-40B4-BE49-F238E27FC236}">
                <a16:creationId xmlns:a16="http://schemas.microsoft.com/office/drawing/2014/main" id="{9390D051-F935-E5E4-DFDC-A49D42645062}"/>
              </a:ext>
            </a:extLst>
          </p:cNvPr>
          <p:cNvSpPr txBox="1"/>
          <p:nvPr/>
        </p:nvSpPr>
        <p:spPr>
          <a:xfrm>
            <a:off x="8735031" y="4550259"/>
            <a:ext cx="1195840" cy="255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62" b="1">
                <a:solidFill>
                  <a:srgbClr val="267560"/>
                </a:solidFill>
                <a:latin typeface="Comic Sans MS" panose="030F0902030302020204" pitchFamily="66" charset="0"/>
              </a:rPr>
              <a:t>Retained D*</a:t>
            </a:r>
          </a:p>
        </p:txBody>
      </p:sp>
      <p:sp>
        <p:nvSpPr>
          <p:cNvPr id="57" name="fig2-architecture-044-text">
            <a:extLst>
              <a:ext uri="{FF2B5EF4-FFF2-40B4-BE49-F238E27FC236}">
                <a16:creationId xmlns:a16="http://schemas.microsoft.com/office/drawing/2014/main" id="{4D661278-646E-AD73-7C8C-6053C04CD7C9}"/>
              </a:ext>
            </a:extLst>
          </p:cNvPr>
          <p:cNvSpPr txBox="1"/>
          <p:nvPr/>
        </p:nvSpPr>
        <p:spPr>
          <a:xfrm>
            <a:off x="8482157" y="4846034"/>
            <a:ext cx="1804981" cy="2023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15">
                <a:solidFill>
                  <a:srgbClr val="243448"/>
                </a:solidFill>
                <a:latin typeface="Comic Sans MS" panose="030F0902030302020204" pitchFamily="66" charset="0"/>
              </a:rPr>
              <a:t>Best accepted checker</a:t>
            </a:r>
          </a:p>
        </p:txBody>
      </p:sp>
      <p:sp>
        <p:nvSpPr>
          <p:cNvPr id="58" name="fig2-architecture-045-text">
            <a:extLst>
              <a:ext uri="{FF2B5EF4-FFF2-40B4-BE49-F238E27FC236}">
                <a16:creationId xmlns:a16="http://schemas.microsoft.com/office/drawing/2014/main" id="{C055479F-F0F2-5924-D299-69223C6EAE36}"/>
              </a:ext>
            </a:extLst>
          </p:cNvPr>
          <p:cNvSpPr txBox="1"/>
          <p:nvPr/>
        </p:nvSpPr>
        <p:spPr>
          <a:xfrm>
            <a:off x="1941635" y="4076283"/>
            <a:ext cx="2867773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b="1">
                <a:solidFill>
                  <a:srgbClr val="243448"/>
                </a:solidFill>
                <a:latin typeface="Comic Sans MS" panose="030F0902030302020204" pitchFamily="66" charset="0"/>
              </a:rPr>
              <a:t>Retain only after a healthy run</a:t>
            </a:r>
          </a:p>
        </p:txBody>
      </p:sp>
      <p:sp>
        <p:nvSpPr>
          <p:cNvPr id="59" name="fig2-architecture-046-text">
            <a:extLst>
              <a:ext uri="{FF2B5EF4-FFF2-40B4-BE49-F238E27FC236}">
                <a16:creationId xmlns:a16="http://schemas.microsoft.com/office/drawing/2014/main" id="{A6DEBCBC-75F0-44D9-CC51-EB22CFC122B9}"/>
              </a:ext>
            </a:extLst>
          </p:cNvPr>
          <p:cNvSpPr txBox="1"/>
          <p:nvPr/>
        </p:nvSpPr>
        <p:spPr>
          <a:xfrm>
            <a:off x="1941635" y="4395217"/>
            <a:ext cx="4972515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 dirty="0">
                <a:solidFill>
                  <a:srgbClr val="243448"/>
                </a:solidFill>
                <a:latin typeface="Comic Sans MS" panose="030F0902030302020204" pitchFamily="66" charset="0"/>
              </a:rPr>
              <a:t>Recover a vulnerable warning</a:t>
            </a:r>
            <a:r>
              <a:rPr lang="zh-CN" altLang="en-US" sz="1437" dirty="0">
                <a:solidFill>
                  <a:srgbClr val="243448"/>
                </a:solidFill>
                <a:latin typeface="Comic Sans MS" panose="030F0902030302020204" pitchFamily="66" charset="0"/>
              </a:rPr>
              <a:t>      </a:t>
            </a:r>
            <a:r>
              <a:rPr sz="1437" dirty="0">
                <a:solidFill>
                  <a:srgbClr val="243448"/>
                </a:solidFill>
                <a:latin typeface="Comic Sans MS" panose="030F0902030302020204" pitchFamily="66" charset="0"/>
              </a:rPr>
              <a:t>, or reduce fixed reports</a:t>
            </a:r>
          </a:p>
        </p:txBody>
      </p:sp>
      <p:sp>
        <p:nvSpPr>
          <p:cNvPr id="60" name="fig2-architecture-047-text">
            <a:extLst>
              <a:ext uri="{FF2B5EF4-FFF2-40B4-BE49-F238E27FC236}">
                <a16:creationId xmlns:a16="http://schemas.microsoft.com/office/drawing/2014/main" id="{7E011CB2-AE62-A858-AA0C-74F308402334}"/>
              </a:ext>
            </a:extLst>
          </p:cNvPr>
          <p:cNvSpPr txBox="1"/>
          <p:nvPr/>
        </p:nvSpPr>
        <p:spPr>
          <a:xfrm>
            <a:off x="1941635" y="4658986"/>
            <a:ext cx="4323299" cy="2211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37">
                <a:solidFill>
                  <a:srgbClr val="243448"/>
                </a:solidFill>
                <a:latin typeface="Comic Sans MS" panose="030F0902030302020204" pitchFamily="66" charset="0"/>
              </a:rPr>
              <a:t>while preserving vulnerable-side warning presence.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A252E092-E6FD-A80B-3C64-EAFD64BDC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41" y="2827286"/>
            <a:ext cx="410243" cy="41024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B2F3E1C0-58DA-4EA0-BA2F-1556FB65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216" y="2827286"/>
            <a:ext cx="410243" cy="410243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6DAC9F4B-08DC-B116-4753-235F9C582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737" y="2824799"/>
            <a:ext cx="410243" cy="41024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664320A5-D7B9-A532-A50D-CF143B1AB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03585" y="3470818"/>
            <a:ext cx="378202" cy="37968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0E50D5E4-E7FD-2428-7728-A17374182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657" y="280247"/>
            <a:ext cx="316995" cy="31699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51050A28-ECC8-1AA1-F3D4-B07127832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937" y="2003783"/>
            <a:ext cx="342089" cy="342089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B1666B4E-8BAD-B41F-FAA7-8E66B86C6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590943" y="3693395"/>
            <a:ext cx="312099" cy="312099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8BEDFD7F-7B6C-7B40-A553-CB70B286B0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3108" y="3904776"/>
            <a:ext cx="490901" cy="490901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701A19F9-D092-01F8-CE61-9BA538C3E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107" y="1952426"/>
            <a:ext cx="410244" cy="446876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F3AA0036-044F-578E-73CA-04C8B995F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0751" y="4346867"/>
            <a:ext cx="312119" cy="312119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9268C033-F1F1-4221-2C62-3E3E982E2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41917" y="4346867"/>
            <a:ext cx="362118" cy="362118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F6571645-DE0A-45CD-2946-9967A7DE16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8414" y="4602841"/>
            <a:ext cx="311992" cy="31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8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18">
            <a:extLst>
              <a:ext uri="{FF2B5EF4-FFF2-40B4-BE49-F238E27FC236}">
                <a16:creationId xmlns:a16="http://schemas.microsoft.com/office/drawing/2014/main" id="{062F3B01-BE58-012E-451F-0E9815BCA5E9}"/>
              </a:ext>
            </a:extLst>
          </p:cNvPr>
          <p:cNvSpPr/>
          <p:nvPr/>
        </p:nvSpPr>
        <p:spPr>
          <a:xfrm>
            <a:off x="1876026" y="1786614"/>
            <a:ext cx="2718000" cy="842286"/>
          </a:xfrm>
          <a:prstGeom prst="roundRect">
            <a:avLst>
              <a:gd name="adj" fmla="val 4030"/>
            </a:avLst>
          </a:prstGeom>
          <a:solidFill>
            <a:srgbClr val="C1DCB1"/>
          </a:solidFill>
          <a:ln>
            <a:noFill/>
            <a:prstDash val="sysDash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圆角矩形 120">
            <a:extLst>
              <a:ext uri="{FF2B5EF4-FFF2-40B4-BE49-F238E27FC236}">
                <a16:creationId xmlns:a16="http://schemas.microsoft.com/office/drawing/2014/main" id="{173119D3-04B2-4D99-0B5C-7FAE671687C2}"/>
              </a:ext>
            </a:extLst>
          </p:cNvPr>
          <p:cNvSpPr/>
          <p:nvPr/>
        </p:nvSpPr>
        <p:spPr>
          <a:xfrm>
            <a:off x="5021807" y="1786614"/>
            <a:ext cx="2719552" cy="842286"/>
          </a:xfrm>
          <a:prstGeom prst="roundRect">
            <a:avLst>
              <a:gd name="adj" fmla="val 4030"/>
            </a:avLst>
          </a:prstGeom>
          <a:solidFill>
            <a:srgbClr val="BBD5EC"/>
          </a:solidFill>
          <a:ln>
            <a:noFill/>
            <a:prstDash val="sysDash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圆角矩形 122">
            <a:extLst>
              <a:ext uri="{FF2B5EF4-FFF2-40B4-BE49-F238E27FC236}">
                <a16:creationId xmlns:a16="http://schemas.microsoft.com/office/drawing/2014/main" id="{D38294CE-FD89-0551-5C57-C9877A1DD813}"/>
              </a:ext>
            </a:extLst>
          </p:cNvPr>
          <p:cNvSpPr/>
          <p:nvPr/>
        </p:nvSpPr>
        <p:spPr>
          <a:xfrm>
            <a:off x="8169140" y="1786614"/>
            <a:ext cx="2880000" cy="842286"/>
          </a:xfrm>
          <a:prstGeom prst="roundRect">
            <a:avLst>
              <a:gd name="adj" fmla="val 4030"/>
            </a:avLst>
          </a:prstGeom>
          <a:solidFill>
            <a:srgbClr val="FFF6D6"/>
          </a:solidFill>
          <a:ln>
            <a:noFill/>
            <a:prstDash val="sysDash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00727CE-4475-4C43-6185-3637F2E8FFF4}"/>
              </a:ext>
            </a:extLst>
          </p:cNvPr>
          <p:cNvSpPr/>
          <p:nvPr/>
        </p:nvSpPr>
        <p:spPr>
          <a:xfrm>
            <a:off x="1876026" y="679814"/>
            <a:ext cx="9173115" cy="842286"/>
          </a:xfrm>
          <a:prstGeom prst="roundRect">
            <a:avLst>
              <a:gd name="adj" fmla="val 4030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  <a:prstDash val="lgDash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udy-design-006-line">
            <a:extLst>
              <a:ext uri="{FF2B5EF4-FFF2-40B4-BE49-F238E27FC236}">
                <a16:creationId xmlns:a16="http://schemas.microsoft.com/office/drawing/2014/main" id="{26C0526B-CB6B-1C70-4A0C-ED82AAD91042}"/>
              </a:ext>
            </a:extLst>
          </p:cNvPr>
          <p:cNvCxnSpPr>
            <a:cxnSpLocks/>
          </p:cNvCxnSpPr>
          <p:nvPr/>
        </p:nvCxnSpPr>
        <p:spPr>
          <a:xfrm>
            <a:off x="3194538" y="1653126"/>
            <a:ext cx="6420195" cy="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udy-design-007-line">
            <a:extLst>
              <a:ext uri="{FF2B5EF4-FFF2-40B4-BE49-F238E27FC236}">
                <a16:creationId xmlns:a16="http://schemas.microsoft.com/office/drawing/2014/main" id="{1E110BDC-EEDE-044F-2ACD-B0C29CCA6C16}"/>
              </a:ext>
            </a:extLst>
          </p:cNvPr>
          <p:cNvCxnSpPr>
            <a:cxnSpLocks/>
          </p:cNvCxnSpPr>
          <p:nvPr/>
        </p:nvCxnSpPr>
        <p:spPr>
          <a:xfrm>
            <a:off x="3194538" y="1653126"/>
            <a:ext cx="0" cy="133488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udy-design-007-line">
            <a:extLst>
              <a:ext uri="{FF2B5EF4-FFF2-40B4-BE49-F238E27FC236}">
                <a16:creationId xmlns:a16="http://schemas.microsoft.com/office/drawing/2014/main" id="{EC32D6CE-1AA6-5ED5-687F-FCA9FFCE8DF4}"/>
              </a:ext>
            </a:extLst>
          </p:cNvPr>
          <p:cNvCxnSpPr>
            <a:cxnSpLocks/>
          </p:cNvCxnSpPr>
          <p:nvPr/>
        </p:nvCxnSpPr>
        <p:spPr>
          <a:xfrm>
            <a:off x="6389397" y="1526638"/>
            <a:ext cx="0" cy="259976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udy-design-007-line">
            <a:extLst>
              <a:ext uri="{FF2B5EF4-FFF2-40B4-BE49-F238E27FC236}">
                <a16:creationId xmlns:a16="http://schemas.microsoft.com/office/drawing/2014/main" id="{F41422D3-5FBD-B0B1-2D4B-888F20039F86}"/>
              </a:ext>
            </a:extLst>
          </p:cNvPr>
          <p:cNvCxnSpPr>
            <a:cxnSpLocks/>
          </p:cNvCxnSpPr>
          <p:nvPr/>
        </p:nvCxnSpPr>
        <p:spPr>
          <a:xfrm>
            <a:off x="9614733" y="1653126"/>
            <a:ext cx="0" cy="133488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udy-design-005-line">
            <a:extLst>
              <a:ext uri="{FF2B5EF4-FFF2-40B4-BE49-F238E27FC236}">
                <a16:creationId xmlns:a16="http://schemas.microsoft.com/office/drawing/2014/main" id="{95037F38-82FB-354B-3765-A9B115493749}"/>
              </a:ext>
            </a:extLst>
          </p:cNvPr>
          <p:cNvCxnSpPr>
            <a:cxnSpLocks/>
          </p:cNvCxnSpPr>
          <p:nvPr/>
        </p:nvCxnSpPr>
        <p:spPr>
          <a:xfrm>
            <a:off x="6389397" y="1522100"/>
            <a:ext cx="0" cy="131026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udy-design-002-text">
            <a:extLst>
              <a:ext uri="{FF2B5EF4-FFF2-40B4-BE49-F238E27FC236}">
                <a16:creationId xmlns:a16="http://schemas.microsoft.com/office/drawing/2014/main" id="{4C246995-01E3-9706-6ED1-BB29256D91C8}"/>
              </a:ext>
            </a:extLst>
          </p:cNvPr>
          <p:cNvSpPr txBox="1"/>
          <p:nvPr/>
        </p:nvSpPr>
        <p:spPr>
          <a:xfrm>
            <a:off x="3485330" y="639292"/>
            <a:ext cx="1129552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dirty="0">
                <a:solidFill>
                  <a:srgbClr val="315F98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39</a:t>
            </a:r>
          </a:p>
        </p:txBody>
      </p:sp>
      <p:sp>
        <p:nvSpPr>
          <p:cNvPr id="20" name="study-design-003-text">
            <a:extLst>
              <a:ext uri="{FF2B5EF4-FFF2-40B4-BE49-F238E27FC236}">
                <a16:creationId xmlns:a16="http://schemas.microsoft.com/office/drawing/2014/main" id="{4513A35F-C5BB-3E27-0C43-F0CA2462E257}"/>
              </a:ext>
            </a:extLst>
          </p:cNvPr>
          <p:cNvSpPr txBox="1"/>
          <p:nvPr/>
        </p:nvSpPr>
        <p:spPr>
          <a:xfrm>
            <a:off x="4793905" y="766360"/>
            <a:ext cx="3175356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dirty="0">
                <a:solidFill>
                  <a:srgbClr val="243448"/>
                </a:solidFill>
                <a:latin typeface="Comic Sans MS" panose="030F0902030302020204" pitchFamily="66" charset="0"/>
              </a:rPr>
              <a:t>Generated-only CSA checkers</a:t>
            </a:r>
          </a:p>
        </p:txBody>
      </p:sp>
      <p:sp>
        <p:nvSpPr>
          <p:cNvPr id="21" name="study-design-004-text">
            <a:extLst>
              <a:ext uri="{FF2B5EF4-FFF2-40B4-BE49-F238E27FC236}">
                <a16:creationId xmlns:a16="http://schemas.microsoft.com/office/drawing/2014/main" id="{BDCAF695-3907-EA60-6486-50CEB1C18CCB}"/>
              </a:ext>
            </a:extLst>
          </p:cNvPr>
          <p:cNvSpPr txBox="1"/>
          <p:nvPr/>
        </p:nvSpPr>
        <p:spPr>
          <a:xfrm>
            <a:off x="4614882" y="1171396"/>
            <a:ext cx="3579506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dirty="0">
                <a:solidFill>
                  <a:srgbClr val="617084"/>
                </a:solidFill>
                <a:latin typeface="Comic Sans MS" panose="030F0902030302020204" pitchFamily="66" charset="0"/>
              </a:rPr>
              <a:t>Same checker, patch and object scope</a:t>
            </a:r>
          </a:p>
        </p:txBody>
      </p:sp>
      <p:sp>
        <p:nvSpPr>
          <p:cNvPr id="23" name="study-design-000-text">
            <a:extLst>
              <a:ext uri="{FF2B5EF4-FFF2-40B4-BE49-F238E27FC236}">
                <a16:creationId xmlns:a16="http://schemas.microsoft.com/office/drawing/2014/main" id="{76631459-973A-BB7F-8B7D-61DA62CC0A7B}"/>
              </a:ext>
            </a:extLst>
          </p:cNvPr>
          <p:cNvSpPr txBox="1"/>
          <p:nvPr/>
        </p:nvSpPr>
        <p:spPr>
          <a:xfrm>
            <a:off x="8920352" y="1225503"/>
            <a:ext cx="2128788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b="1" dirty="0">
                <a:solidFill>
                  <a:srgbClr val="243448"/>
                </a:solidFill>
                <a:latin typeface="Comic Sans MS" panose="030F0902030302020204" pitchFamily="66" charset="0"/>
              </a:rPr>
              <a:t>Main comparison · E1</a:t>
            </a:r>
          </a:p>
        </p:txBody>
      </p:sp>
      <p:sp>
        <p:nvSpPr>
          <p:cNvPr id="24" name="study-design-011-text">
            <a:extLst>
              <a:ext uri="{FF2B5EF4-FFF2-40B4-BE49-F238E27FC236}">
                <a16:creationId xmlns:a16="http://schemas.microsoft.com/office/drawing/2014/main" id="{2A186DAD-7DE3-C8BB-AA29-8AD62CF0DAA4}"/>
              </a:ext>
            </a:extLst>
          </p:cNvPr>
          <p:cNvSpPr txBox="1"/>
          <p:nvPr/>
        </p:nvSpPr>
        <p:spPr>
          <a:xfrm>
            <a:off x="2744895" y="1918701"/>
            <a:ext cx="916918" cy="255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62" b="1" dirty="0">
                <a:solidFill>
                  <a:srgbClr val="617084"/>
                </a:solidFill>
                <a:latin typeface="Comic Sans MS" panose="030F0902030302020204" pitchFamily="66" charset="0"/>
              </a:rPr>
              <a:t>KNighter</a:t>
            </a:r>
          </a:p>
        </p:txBody>
      </p:sp>
      <p:sp>
        <p:nvSpPr>
          <p:cNvPr id="25" name="study-design-012-text">
            <a:extLst>
              <a:ext uri="{FF2B5EF4-FFF2-40B4-BE49-F238E27FC236}">
                <a16:creationId xmlns:a16="http://schemas.microsoft.com/office/drawing/2014/main" id="{1D18DBEF-69D9-C88E-EB82-5F879E5C6464}"/>
              </a:ext>
            </a:extLst>
          </p:cNvPr>
          <p:cNvSpPr txBox="1"/>
          <p:nvPr/>
        </p:nvSpPr>
        <p:spPr>
          <a:xfrm>
            <a:off x="2426027" y="2303842"/>
            <a:ext cx="1635063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243448"/>
                </a:solidFill>
                <a:latin typeface="Comic Sans MS" panose="030F0902030302020204" pitchFamily="66" charset="0"/>
              </a:rPr>
              <a:t>Report-driven loop</a:t>
            </a:r>
          </a:p>
        </p:txBody>
      </p:sp>
      <p:sp>
        <p:nvSpPr>
          <p:cNvPr id="26" name="study-design-014-text">
            <a:extLst>
              <a:ext uri="{FF2B5EF4-FFF2-40B4-BE49-F238E27FC236}">
                <a16:creationId xmlns:a16="http://schemas.microsoft.com/office/drawing/2014/main" id="{02F77F21-0269-AD0F-6005-5797A74B16E4}"/>
              </a:ext>
            </a:extLst>
          </p:cNvPr>
          <p:cNvSpPr txBox="1"/>
          <p:nvPr/>
        </p:nvSpPr>
        <p:spPr>
          <a:xfrm>
            <a:off x="5872700" y="1942407"/>
            <a:ext cx="1204817" cy="255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62" b="1" dirty="0" err="1">
                <a:solidFill>
                  <a:srgbClr val="315F98"/>
                </a:solidFill>
                <a:latin typeface="Comic Sans MS" panose="030F0902030302020204" pitchFamily="66" charset="0"/>
              </a:rPr>
              <a:t>SemWeaver</a:t>
            </a:r>
            <a:endParaRPr sz="1662" b="1" dirty="0">
              <a:solidFill>
                <a:srgbClr val="315F98"/>
              </a:solidFill>
              <a:latin typeface="Comic Sans MS" panose="030F0902030302020204" pitchFamily="66" charset="0"/>
            </a:endParaRPr>
          </a:p>
        </p:txBody>
      </p:sp>
      <p:sp>
        <p:nvSpPr>
          <p:cNvPr id="27" name="study-design-015-text">
            <a:extLst>
              <a:ext uri="{FF2B5EF4-FFF2-40B4-BE49-F238E27FC236}">
                <a16:creationId xmlns:a16="http://schemas.microsoft.com/office/drawing/2014/main" id="{1D88075A-CE9D-B31C-3917-85ADDE86689C}"/>
              </a:ext>
            </a:extLst>
          </p:cNvPr>
          <p:cNvSpPr txBox="1"/>
          <p:nvPr/>
        </p:nvSpPr>
        <p:spPr>
          <a:xfrm>
            <a:off x="5712328" y="2303842"/>
            <a:ext cx="1396216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243448"/>
                </a:solidFill>
                <a:latin typeface="Comic Sans MS" panose="030F0902030302020204" pitchFamily="66" charset="0"/>
              </a:rPr>
              <a:t>Native evidence</a:t>
            </a:r>
          </a:p>
        </p:txBody>
      </p:sp>
      <p:sp>
        <p:nvSpPr>
          <p:cNvPr id="28" name="study-design-017-text">
            <a:extLst>
              <a:ext uri="{FF2B5EF4-FFF2-40B4-BE49-F238E27FC236}">
                <a16:creationId xmlns:a16="http://schemas.microsoft.com/office/drawing/2014/main" id="{C8F88F96-06CC-A5CE-C16D-A95CB92E7B26}"/>
              </a:ext>
            </a:extLst>
          </p:cNvPr>
          <p:cNvSpPr txBox="1"/>
          <p:nvPr/>
        </p:nvSpPr>
        <p:spPr>
          <a:xfrm>
            <a:off x="9006731" y="1918701"/>
            <a:ext cx="1204817" cy="255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62" b="1" dirty="0" err="1">
                <a:solidFill>
                  <a:srgbClr val="617084"/>
                </a:solidFill>
                <a:latin typeface="Comic Sans MS" panose="030F0902030302020204" pitchFamily="66" charset="0"/>
              </a:rPr>
              <a:t>SemWeaver</a:t>
            </a:r>
            <a:endParaRPr sz="1662" b="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29" name="study-design-018-text">
            <a:extLst>
              <a:ext uri="{FF2B5EF4-FFF2-40B4-BE49-F238E27FC236}">
                <a16:creationId xmlns:a16="http://schemas.microsoft.com/office/drawing/2014/main" id="{E984E2E7-4CF2-E604-334C-E1A382DF8C9F}"/>
              </a:ext>
            </a:extLst>
          </p:cNvPr>
          <p:cNvSpPr txBox="1"/>
          <p:nvPr/>
        </p:nvSpPr>
        <p:spPr>
          <a:xfrm>
            <a:off x="8752333" y="2303842"/>
            <a:ext cx="1801775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243448"/>
                </a:solidFill>
                <a:latin typeface="Comic Sans MS" panose="030F0902030302020204" pitchFamily="66" charset="0"/>
              </a:rPr>
              <a:t>No internal evidence</a:t>
            </a:r>
          </a:p>
        </p:txBody>
      </p:sp>
      <p:sp>
        <p:nvSpPr>
          <p:cNvPr id="30" name="study-design-019-text">
            <a:extLst>
              <a:ext uri="{FF2B5EF4-FFF2-40B4-BE49-F238E27FC236}">
                <a16:creationId xmlns:a16="http://schemas.microsoft.com/office/drawing/2014/main" id="{79A2AAF6-17FA-D0DB-0C37-ADC122933CB9}"/>
              </a:ext>
            </a:extLst>
          </p:cNvPr>
          <p:cNvSpPr txBox="1"/>
          <p:nvPr/>
        </p:nvSpPr>
        <p:spPr>
          <a:xfrm>
            <a:off x="5024157" y="2694933"/>
            <a:ext cx="3258905" cy="239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58" dirty="0">
                <a:solidFill>
                  <a:srgbClr val="617084"/>
                </a:solidFill>
                <a:latin typeface="Comic Sans MS" panose="030F0902030302020204" pitchFamily="66" charset="0"/>
              </a:rPr>
              <a:t>GPT-6-Luna high · 32-reply ceiling*</a:t>
            </a:r>
          </a:p>
        </p:txBody>
      </p:sp>
      <p:sp>
        <p:nvSpPr>
          <p:cNvPr id="31" name="图形 20">
            <a:extLst>
              <a:ext uri="{FF2B5EF4-FFF2-40B4-BE49-F238E27FC236}">
                <a16:creationId xmlns:a16="http://schemas.microsoft.com/office/drawing/2014/main" id="{C3E03B68-7509-424D-94BD-E9705E4FDF52}"/>
              </a:ext>
            </a:extLst>
          </p:cNvPr>
          <p:cNvSpPr>
            <a:spLocks noChangeAspect="1"/>
          </p:cNvSpPr>
          <p:nvPr/>
        </p:nvSpPr>
        <p:spPr>
          <a:xfrm>
            <a:off x="4697556" y="2644620"/>
            <a:ext cx="307936" cy="305203"/>
          </a:xfrm>
          <a:custGeom>
            <a:avLst/>
            <a:gdLst>
              <a:gd name="csX0" fmla="*/ 956075 w 2492754"/>
              <a:gd name="csY0" fmla="*/ 899261 h 2470630"/>
              <a:gd name="csX1" fmla="*/ 956075 w 2492754"/>
              <a:gd name="csY1" fmla="*/ 664527 h 2470630"/>
              <a:gd name="csX2" fmla="*/ 980795 w 2492754"/>
              <a:gd name="csY2" fmla="*/ 620073 h 2470630"/>
              <a:gd name="csX3" fmla="*/ 1452652 w 2492754"/>
              <a:gd name="csY3" fmla="*/ 348362 h 2470630"/>
              <a:gd name="csX4" fmla="*/ 1672534 w 2492754"/>
              <a:gd name="csY4" fmla="*/ 294041 h 2470630"/>
              <a:gd name="csX5" fmla="*/ 2156752 w 2492754"/>
              <a:gd name="csY5" fmla="*/ 768288 h 2470630"/>
              <a:gd name="csX6" fmla="*/ 2154259 w 2492754"/>
              <a:gd name="csY6" fmla="*/ 825102 h 2470630"/>
              <a:gd name="csX7" fmla="*/ 1665056 w 2492754"/>
              <a:gd name="csY7" fmla="*/ 538539 h 2470630"/>
              <a:gd name="csX8" fmla="*/ 1576148 w 2492754"/>
              <a:gd name="csY8" fmla="*/ 538539 h 2470630"/>
              <a:gd name="csX9" fmla="*/ 956075 w 2492754"/>
              <a:gd name="csY9" fmla="*/ 899261 h 2470630"/>
              <a:gd name="csX10" fmla="*/ 2057976 w 2492754"/>
              <a:gd name="csY10" fmla="*/ 1813271 h 2470630"/>
              <a:gd name="csX11" fmla="*/ 2057976 w 2492754"/>
              <a:gd name="csY11" fmla="*/ 1252609 h 2470630"/>
              <a:gd name="csX12" fmla="*/ 2013418 w 2492754"/>
              <a:gd name="csY12" fmla="*/ 1176061 h 2470630"/>
              <a:gd name="csX13" fmla="*/ 1393346 w 2492754"/>
              <a:gd name="csY13" fmla="*/ 815338 h 2470630"/>
              <a:gd name="csX14" fmla="*/ 1595882 w 2492754"/>
              <a:gd name="csY14" fmla="*/ 699218 h 2470630"/>
              <a:gd name="csX15" fmla="*/ 1645322 w 2492754"/>
              <a:gd name="csY15" fmla="*/ 699218 h 2470630"/>
              <a:gd name="csX16" fmla="*/ 2117179 w 2492754"/>
              <a:gd name="csY16" fmla="*/ 971032 h 2470630"/>
              <a:gd name="csX17" fmla="*/ 2344539 w 2492754"/>
              <a:gd name="csY17" fmla="*/ 1381090 h 2470630"/>
              <a:gd name="csX18" fmla="*/ 2057872 w 2492754"/>
              <a:gd name="csY18" fmla="*/ 1813478 h 2470630"/>
              <a:gd name="csX19" fmla="*/ 810353 w 2492754"/>
              <a:gd name="csY19" fmla="*/ 1319394 h 2470630"/>
              <a:gd name="csX20" fmla="*/ 607817 w 2492754"/>
              <a:gd name="csY20" fmla="*/ 1200780 h 2470630"/>
              <a:gd name="csX21" fmla="*/ 582993 w 2492754"/>
              <a:gd name="csY21" fmla="*/ 1156326 h 2470630"/>
              <a:gd name="csX22" fmla="*/ 582993 w 2492754"/>
              <a:gd name="csY22" fmla="*/ 612698 h 2470630"/>
              <a:gd name="csX23" fmla="*/ 1059836 w 2492754"/>
              <a:gd name="csY23" fmla="*/ 148215 h 2470630"/>
              <a:gd name="csX24" fmla="*/ 1341517 w 2492754"/>
              <a:gd name="csY24" fmla="*/ 244601 h 2470630"/>
              <a:gd name="csX25" fmla="*/ 854807 w 2492754"/>
              <a:gd name="csY25" fmla="*/ 526283 h 2470630"/>
              <a:gd name="csX26" fmla="*/ 810353 w 2492754"/>
              <a:gd name="csY26" fmla="*/ 602831 h 2470630"/>
              <a:gd name="csX27" fmla="*/ 810353 w 2492754"/>
              <a:gd name="csY27" fmla="*/ 1319290 h 2470630"/>
              <a:gd name="csX28" fmla="*/ 1246377 w 2492754"/>
              <a:gd name="csY28" fmla="*/ 1571266 h 2470630"/>
              <a:gd name="csX29" fmla="*/ 956075 w 2492754"/>
              <a:gd name="csY29" fmla="*/ 1408198 h 2470630"/>
              <a:gd name="csX30" fmla="*/ 956075 w 2492754"/>
              <a:gd name="csY30" fmla="*/ 1062329 h 2470630"/>
              <a:gd name="csX31" fmla="*/ 1246377 w 2492754"/>
              <a:gd name="csY31" fmla="*/ 899261 h 2470630"/>
              <a:gd name="csX32" fmla="*/ 1536679 w 2492754"/>
              <a:gd name="csY32" fmla="*/ 1062329 h 2470630"/>
              <a:gd name="csX33" fmla="*/ 1536679 w 2492754"/>
              <a:gd name="csY33" fmla="*/ 1408198 h 2470630"/>
              <a:gd name="csX34" fmla="*/ 1246377 w 2492754"/>
              <a:gd name="csY34" fmla="*/ 1571266 h 2470630"/>
              <a:gd name="csX35" fmla="*/ 1432918 w 2492754"/>
              <a:gd name="csY35" fmla="*/ 2322208 h 2470630"/>
              <a:gd name="csX36" fmla="*/ 1151237 w 2492754"/>
              <a:gd name="csY36" fmla="*/ 2225926 h 2470630"/>
              <a:gd name="csX37" fmla="*/ 1637947 w 2492754"/>
              <a:gd name="csY37" fmla="*/ 1944244 h 2470630"/>
              <a:gd name="csX38" fmla="*/ 1682401 w 2492754"/>
              <a:gd name="csY38" fmla="*/ 1867696 h 2470630"/>
              <a:gd name="csX39" fmla="*/ 1682401 w 2492754"/>
              <a:gd name="csY39" fmla="*/ 1151237 h 2470630"/>
              <a:gd name="csX40" fmla="*/ 1887430 w 2492754"/>
              <a:gd name="csY40" fmla="*/ 1269850 h 2470630"/>
              <a:gd name="csX41" fmla="*/ 1912150 w 2492754"/>
              <a:gd name="csY41" fmla="*/ 1314305 h 2470630"/>
              <a:gd name="csX42" fmla="*/ 1912150 w 2492754"/>
              <a:gd name="csY42" fmla="*/ 1857829 h 2470630"/>
              <a:gd name="csX43" fmla="*/ 1432918 w 2492754"/>
              <a:gd name="csY43" fmla="*/ 2322312 h 2470630"/>
              <a:gd name="csX44" fmla="*/ 847433 w 2492754"/>
              <a:gd name="csY44" fmla="*/ 1771413 h 2470630"/>
              <a:gd name="csX45" fmla="*/ 375471 w 2492754"/>
              <a:gd name="csY45" fmla="*/ 1499599 h 2470630"/>
              <a:gd name="csX46" fmla="*/ 148215 w 2492754"/>
              <a:gd name="csY46" fmla="*/ 1089541 h 2470630"/>
              <a:gd name="csX47" fmla="*/ 437271 w 2492754"/>
              <a:gd name="csY47" fmla="*/ 657152 h 2470630"/>
              <a:gd name="csX48" fmla="*/ 437271 w 2492754"/>
              <a:gd name="csY48" fmla="*/ 1220411 h 2470630"/>
              <a:gd name="csX49" fmla="*/ 481725 w 2492754"/>
              <a:gd name="csY49" fmla="*/ 1297063 h 2470630"/>
              <a:gd name="csX50" fmla="*/ 1099408 w 2492754"/>
              <a:gd name="csY50" fmla="*/ 1655293 h 2470630"/>
              <a:gd name="csX51" fmla="*/ 896872 w 2492754"/>
              <a:gd name="csY51" fmla="*/ 1771413 h 2470630"/>
              <a:gd name="csX52" fmla="*/ 847433 w 2492754"/>
              <a:gd name="csY52" fmla="*/ 1771413 h 2470630"/>
              <a:gd name="csX53" fmla="*/ 820220 w 2492754"/>
              <a:gd name="csY53" fmla="*/ 2176486 h 2470630"/>
              <a:gd name="csX54" fmla="*/ 336002 w 2492754"/>
              <a:gd name="csY54" fmla="*/ 1707121 h 2470630"/>
              <a:gd name="csX55" fmla="*/ 340884 w 2492754"/>
              <a:gd name="csY55" fmla="*/ 1647918 h 2470630"/>
              <a:gd name="csX56" fmla="*/ 827594 w 2492754"/>
              <a:gd name="csY56" fmla="*/ 1929392 h 2470630"/>
              <a:gd name="csX57" fmla="*/ 916503 w 2492754"/>
              <a:gd name="csY57" fmla="*/ 1929392 h 2470630"/>
              <a:gd name="csX58" fmla="*/ 1536575 w 2492754"/>
              <a:gd name="csY58" fmla="*/ 1571266 h 2470630"/>
              <a:gd name="csX59" fmla="*/ 1536575 w 2492754"/>
              <a:gd name="csY59" fmla="*/ 1806000 h 2470630"/>
              <a:gd name="csX60" fmla="*/ 1511959 w 2492754"/>
              <a:gd name="csY60" fmla="*/ 1850454 h 2470630"/>
              <a:gd name="csX61" fmla="*/ 1040102 w 2492754"/>
              <a:gd name="csY61" fmla="*/ 2122165 h 2470630"/>
              <a:gd name="csX62" fmla="*/ 820220 w 2492754"/>
              <a:gd name="csY62" fmla="*/ 2176486 h 2470630"/>
              <a:gd name="csX63" fmla="*/ 1432918 w 2492754"/>
              <a:gd name="csY63" fmla="*/ 2470423 h 2470630"/>
              <a:gd name="csX64" fmla="*/ 2038138 w 2492754"/>
              <a:gd name="csY64" fmla="*/ 1976442 h 2470630"/>
              <a:gd name="csX65" fmla="*/ 2492754 w 2492754"/>
              <a:gd name="csY65" fmla="*/ 1380986 h 2470630"/>
              <a:gd name="csX66" fmla="*/ 2285232 w 2492754"/>
              <a:gd name="csY66" fmla="*/ 918995 h 2470630"/>
              <a:gd name="csX67" fmla="*/ 2304967 w 2492754"/>
              <a:gd name="csY67" fmla="*/ 763406 h 2470630"/>
              <a:gd name="csX68" fmla="*/ 1687387 w 2492754"/>
              <a:gd name="csY68" fmla="*/ 145722 h 2470630"/>
              <a:gd name="csX69" fmla="*/ 1492121 w 2492754"/>
              <a:gd name="csY69" fmla="*/ 177920 h 2470630"/>
              <a:gd name="csX70" fmla="*/ 1059940 w 2492754"/>
              <a:gd name="csY70" fmla="*/ 0 h 2470630"/>
              <a:gd name="csX71" fmla="*/ 454720 w 2492754"/>
              <a:gd name="csY71" fmla="*/ 494085 h 2470630"/>
              <a:gd name="csX72" fmla="*/ 0 w 2492754"/>
              <a:gd name="csY72" fmla="*/ 1089541 h 2470630"/>
              <a:gd name="csX73" fmla="*/ 207522 w 2492754"/>
              <a:gd name="csY73" fmla="*/ 1551532 h 2470630"/>
              <a:gd name="csX74" fmla="*/ 187787 w 2492754"/>
              <a:gd name="csY74" fmla="*/ 1707225 h 2470630"/>
              <a:gd name="csX75" fmla="*/ 805367 w 2492754"/>
              <a:gd name="csY75" fmla="*/ 2324805 h 2470630"/>
              <a:gd name="csX76" fmla="*/ 1000633 w 2492754"/>
              <a:gd name="csY76" fmla="*/ 2292711 h 2470630"/>
              <a:gd name="csX77" fmla="*/ 1432918 w 2492754"/>
              <a:gd name="csY77" fmla="*/ 2470631 h 24706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</a:cxnLst>
            <a:rect l="l" t="t" r="r" b="b"/>
            <a:pathLst>
              <a:path w="2492754" h="2470630">
                <a:moveTo>
                  <a:pt x="956075" y="899261"/>
                </a:moveTo>
                <a:lnTo>
                  <a:pt x="956075" y="664527"/>
                </a:lnTo>
                <a:cubicBezTo>
                  <a:pt x="956075" y="644792"/>
                  <a:pt x="963553" y="629940"/>
                  <a:pt x="980795" y="620073"/>
                </a:cubicBezTo>
                <a:lnTo>
                  <a:pt x="1452652" y="348362"/>
                </a:lnTo>
                <a:cubicBezTo>
                  <a:pt x="1516945" y="311283"/>
                  <a:pt x="1593493" y="294041"/>
                  <a:pt x="1672534" y="294041"/>
                </a:cubicBezTo>
                <a:cubicBezTo>
                  <a:pt x="1968964" y="294041"/>
                  <a:pt x="2156752" y="523790"/>
                  <a:pt x="2156752" y="768288"/>
                </a:cubicBezTo>
                <a:cubicBezTo>
                  <a:pt x="2156752" y="785633"/>
                  <a:pt x="2156752" y="805367"/>
                  <a:pt x="2154259" y="825102"/>
                </a:cubicBezTo>
                <a:lnTo>
                  <a:pt x="1665056" y="538539"/>
                </a:lnTo>
                <a:cubicBezTo>
                  <a:pt x="1637934" y="521273"/>
                  <a:pt x="1603269" y="521273"/>
                  <a:pt x="1576148" y="538539"/>
                </a:cubicBezTo>
                <a:lnTo>
                  <a:pt x="956075" y="899261"/>
                </a:lnTo>
                <a:close/>
                <a:moveTo>
                  <a:pt x="2057976" y="1813271"/>
                </a:moveTo>
                <a:lnTo>
                  <a:pt x="2057976" y="1252609"/>
                </a:lnTo>
                <a:cubicBezTo>
                  <a:pt x="2057976" y="1218022"/>
                  <a:pt x="2043124" y="1193406"/>
                  <a:pt x="2013418" y="1176061"/>
                </a:cubicBezTo>
                <a:lnTo>
                  <a:pt x="1393346" y="815338"/>
                </a:lnTo>
                <a:lnTo>
                  <a:pt x="1595882" y="699218"/>
                </a:lnTo>
                <a:cubicBezTo>
                  <a:pt x="1610884" y="689347"/>
                  <a:pt x="1630320" y="689347"/>
                  <a:pt x="1645322" y="699218"/>
                </a:cubicBezTo>
                <a:lnTo>
                  <a:pt x="2117179" y="971032"/>
                </a:lnTo>
                <a:cubicBezTo>
                  <a:pt x="2253138" y="1049969"/>
                  <a:pt x="2344539" y="1218022"/>
                  <a:pt x="2344539" y="1381090"/>
                </a:cubicBezTo>
                <a:cubicBezTo>
                  <a:pt x="2344539" y="1568877"/>
                  <a:pt x="2233404" y="1741812"/>
                  <a:pt x="2057872" y="1813478"/>
                </a:cubicBezTo>
                <a:close/>
                <a:moveTo>
                  <a:pt x="810353" y="1319394"/>
                </a:moveTo>
                <a:lnTo>
                  <a:pt x="607817" y="1200780"/>
                </a:lnTo>
                <a:cubicBezTo>
                  <a:pt x="590471" y="1190913"/>
                  <a:pt x="582993" y="1176061"/>
                  <a:pt x="582993" y="1156326"/>
                </a:cubicBezTo>
                <a:lnTo>
                  <a:pt x="582993" y="612698"/>
                </a:lnTo>
                <a:cubicBezTo>
                  <a:pt x="582993" y="348362"/>
                  <a:pt x="785529" y="148215"/>
                  <a:pt x="1059836" y="148215"/>
                </a:cubicBezTo>
                <a:cubicBezTo>
                  <a:pt x="1163701" y="148215"/>
                  <a:pt x="1259983" y="182802"/>
                  <a:pt x="1341517" y="244601"/>
                </a:cubicBezTo>
                <a:lnTo>
                  <a:pt x="854807" y="526283"/>
                </a:lnTo>
                <a:cubicBezTo>
                  <a:pt x="825205" y="543524"/>
                  <a:pt x="810353" y="568244"/>
                  <a:pt x="810353" y="602831"/>
                </a:cubicBezTo>
                <a:lnTo>
                  <a:pt x="810353" y="1319290"/>
                </a:lnTo>
                <a:close/>
                <a:moveTo>
                  <a:pt x="1246377" y="1571266"/>
                </a:moveTo>
                <a:lnTo>
                  <a:pt x="956075" y="1408198"/>
                </a:lnTo>
                <a:lnTo>
                  <a:pt x="956075" y="1062329"/>
                </a:lnTo>
                <a:lnTo>
                  <a:pt x="1246377" y="899261"/>
                </a:lnTo>
                <a:lnTo>
                  <a:pt x="1536679" y="1062329"/>
                </a:lnTo>
                <a:lnTo>
                  <a:pt x="1536679" y="1408198"/>
                </a:lnTo>
                <a:lnTo>
                  <a:pt x="1246377" y="1571266"/>
                </a:lnTo>
                <a:close/>
                <a:moveTo>
                  <a:pt x="1432918" y="2322208"/>
                </a:moveTo>
                <a:cubicBezTo>
                  <a:pt x="1329053" y="2322208"/>
                  <a:pt x="1232771" y="2287725"/>
                  <a:pt x="1151237" y="2225926"/>
                </a:cubicBezTo>
                <a:lnTo>
                  <a:pt x="1637947" y="1944244"/>
                </a:lnTo>
                <a:cubicBezTo>
                  <a:pt x="1667549" y="1927003"/>
                  <a:pt x="1682401" y="1902283"/>
                  <a:pt x="1682401" y="1867696"/>
                </a:cubicBezTo>
                <a:lnTo>
                  <a:pt x="1682401" y="1151237"/>
                </a:lnTo>
                <a:lnTo>
                  <a:pt x="1887430" y="1269850"/>
                </a:lnTo>
                <a:cubicBezTo>
                  <a:pt x="1904776" y="1279718"/>
                  <a:pt x="1912150" y="1294570"/>
                  <a:pt x="1912150" y="1314305"/>
                </a:cubicBezTo>
                <a:lnTo>
                  <a:pt x="1912150" y="1857829"/>
                </a:lnTo>
                <a:cubicBezTo>
                  <a:pt x="1912150" y="2122165"/>
                  <a:pt x="1707121" y="2322312"/>
                  <a:pt x="1432918" y="2322312"/>
                </a:cubicBezTo>
                <a:close/>
                <a:moveTo>
                  <a:pt x="847433" y="1771413"/>
                </a:moveTo>
                <a:lnTo>
                  <a:pt x="375471" y="1499599"/>
                </a:lnTo>
                <a:cubicBezTo>
                  <a:pt x="239616" y="1420558"/>
                  <a:pt x="148215" y="1252609"/>
                  <a:pt x="148215" y="1089541"/>
                </a:cubicBezTo>
                <a:cubicBezTo>
                  <a:pt x="147560" y="900007"/>
                  <a:pt x="261880" y="728999"/>
                  <a:pt x="437271" y="657152"/>
                </a:cubicBezTo>
                <a:lnTo>
                  <a:pt x="437271" y="1220411"/>
                </a:lnTo>
                <a:cubicBezTo>
                  <a:pt x="437271" y="1254998"/>
                  <a:pt x="452123" y="1279718"/>
                  <a:pt x="481725" y="1297063"/>
                </a:cubicBezTo>
                <a:lnTo>
                  <a:pt x="1099408" y="1655293"/>
                </a:lnTo>
                <a:lnTo>
                  <a:pt x="896872" y="1771413"/>
                </a:lnTo>
                <a:cubicBezTo>
                  <a:pt x="881878" y="1781311"/>
                  <a:pt x="862426" y="1781311"/>
                  <a:pt x="847433" y="1771413"/>
                </a:cubicBezTo>
                <a:close/>
                <a:moveTo>
                  <a:pt x="820220" y="2176486"/>
                </a:moveTo>
                <a:cubicBezTo>
                  <a:pt x="541032" y="2176486"/>
                  <a:pt x="336002" y="1966575"/>
                  <a:pt x="336002" y="1707121"/>
                </a:cubicBezTo>
                <a:cubicBezTo>
                  <a:pt x="336002" y="1687387"/>
                  <a:pt x="338495" y="1667652"/>
                  <a:pt x="340884" y="1647918"/>
                </a:cubicBezTo>
                <a:lnTo>
                  <a:pt x="827594" y="1929392"/>
                </a:lnTo>
                <a:cubicBezTo>
                  <a:pt x="857300" y="1946737"/>
                  <a:pt x="886901" y="1946737"/>
                  <a:pt x="916503" y="1929392"/>
                </a:cubicBezTo>
                <a:lnTo>
                  <a:pt x="1536575" y="1571266"/>
                </a:lnTo>
                <a:lnTo>
                  <a:pt x="1536575" y="1806000"/>
                </a:lnTo>
                <a:cubicBezTo>
                  <a:pt x="1536575" y="1825735"/>
                  <a:pt x="1529305" y="1840587"/>
                  <a:pt x="1511959" y="1850454"/>
                </a:cubicBezTo>
                <a:lnTo>
                  <a:pt x="1040102" y="2122165"/>
                </a:lnTo>
                <a:cubicBezTo>
                  <a:pt x="975809" y="2159244"/>
                  <a:pt x="899261" y="2176486"/>
                  <a:pt x="820220" y="2176486"/>
                </a:cubicBezTo>
                <a:close/>
                <a:moveTo>
                  <a:pt x="1432918" y="2470423"/>
                </a:moveTo>
                <a:cubicBezTo>
                  <a:pt x="1726391" y="2470447"/>
                  <a:pt x="1979364" y="2263970"/>
                  <a:pt x="2038138" y="1976442"/>
                </a:cubicBezTo>
                <a:cubicBezTo>
                  <a:pt x="2314834" y="1904776"/>
                  <a:pt x="2492754" y="1645218"/>
                  <a:pt x="2492754" y="1380986"/>
                </a:cubicBezTo>
                <a:cubicBezTo>
                  <a:pt x="2492754" y="1208051"/>
                  <a:pt x="2418699" y="1040102"/>
                  <a:pt x="2285232" y="918995"/>
                </a:cubicBezTo>
                <a:cubicBezTo>
                  <a:pt x="2297592" y="867063"/>
                  <a:pt x="2304967" y="815234"/>
                  <a:pt x="2304967" y="763406"/>
                </a:cubicBezTo>
                <a:cubicBezTo>
                  <a:pt x="2304967" y="410162"/>
                  <a:pt x="2018404" y="145722"/>
                  <a:pt x="1687387" y="145722"/>
                </a:cubicBezTo>
                <a:cubicBezTo>
                  <a:pt x="1620706" y="145722"/>
                  <a:pt x="1556517" y="155589"/>
                  <a:pt x="1492121" y="177920"/>
                </a:cubicBezTo>
                <a:cubicBezTo>
                  <a:pt x="1376831" y="64439"/>
                  <a:pt x="1221710" y="578"/>
                  <a:pt x="1059940" y="0"/>
                </a:cubicBezTo>
                <a:cubicBezTo>
                  <a:pt x="766435" y="-14"/>
                  <a:pt x="513451" y="206515"/>
                  <a:pt x="454720" y="494085"/>
                </a:cubicBezTo>
                <a:cubicBezTo>
                  <a:pt x="177920" y="565751"/>
                  <a:pt x="0" y="825205"/>
                  <a:pt x="0" y="1089541"/>
                </a:cubicBezTo>
                <a:cubicBezTo>
                  <a:pt x="0" y="1262580"/>
                  <a:pt x="74056" y="1430529"/>
                  <a:pt x="207522" y="1551532"/>
                </a:cubicBezTo>
                <a:cubicBezTo>
                  <a:pt x="195162" y="1603464"/>
                  <a:pt x="187787" y="1655396"/>
                  <a:pt x="187787" y="1707225"/>
                </a:cubicBezTo>
                <a:cubicBezTo>
                  <a:pt x="187787" y="2060469"/>
                  <a:pt x="474350" y="2324805"/>
                  <a:pt x="805367" y="2324805"/>
                </a:cubicBezTo>
                <a:cubicBezTo>
                  <a:pt x="872048" y="2324805"/>
                  <a:pt x="936237" y="2314938"/>
                  <a:pt x="1000633" y="2292711"/>
                </a:cubicBezTo>
                <a:cubicBezTo>
                  <a:pt x="1115936" y="2406236"/>
                  <a:pt x="1271108" y="2470102"/>
                  <a:pt x="1432918" y="2470631"/>
                </a:cubicBezTo>
                <a:close/>
              </a:path>
            </a:pathLst>
          </a:custGeom>
          <a:solidFill>
            <a:srgbClr val="000000"/>
          </a:solidFill>
          <a:ln w="103584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tudy-design-020-text">
            <a:extLst>
              <a:ext uri="{FF2B5EF4-FFF2-40B4-BE49-F238E27FC236}">
                <a16:creationId xmlns:a16="http://schemas.microsoft.com/office/drawing/2014/main" id="{8A799965-E4FA-7F6F-4D32-AE4AE6ECBB59}"/>
              </a:ext>
            </a:extLst>
          </p:cNvPr>
          <p:cNvSpPr txBox="1"/>
          <p:nvPr/>
        </p:nvSpPr>
        <p:spPr>
          <a:xfrm>
            <a:off x="1877875" y="2855167"/>
            <a:ext cx="2774799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b="1" dirty="0">
                <a:solidFill>
                  <a:srgbClr val="243448"/>
                </a:solidFill>
                <a:latin typeface="Comic Sans MS" panose="030F0902030302020204" pitchFamily="66" charset="0"/>
              </a:rPr>
              <a:t>Original 12-subject subset</a:t>
            </a:r>
          </a:p>
        </p:txBody>
      </p:sp>
      <p:sp>
        <p:nvSpPr>
          <p:cNvPr id="34" name="study-design-021-text">
            <a:extLst>
              <a:ext uri="{FF2B5EF4-FFF2-40B4-BE49-F238E27FC236}">
                <a16:creationId xmlns:a16="http://schemas.microsoft.com/office/drawing/2014/main" id="{8EA2A025-2335-3FDC-1481-9A4DD9FDB293}"/>
              </a:ext>
            </a:extLst>
          </p:cNvPr>
          <p:cNvSpPr txBox="1"/>
          <p:nvPr/>
        </p:nvSpPr>
        <p:spPr>
          <a:xfrm>
            <a:off x="9037617" y="2881883"/>
            <a:ext cx="2013372" cy="2131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85" dirty="0">
                <a:solidFill>
                  <a:srgbClr val="617084"/>
                </a:solidFill>
                <a:latin typeface="Comic Sans MS" panose="030F0902030302020204" pitchFamily="66" charset="0"/>
              </a:rPr>
              <a:t>Same inputs for E3 / E4</a:t>
            </a:r>
          </a:p>
        </p:txBody>
      </p:sp>
      <p:cxnSp>
        <p:nvCxnSpPr>
          <p:cNvPr id="35" name="study-design-022-line">
            <a:extLst>
              <a:ext uri="{FF2B5EF4-FFF2-40B4-BE49-F238E27FC236}">
                <a16:creationId xmlns:a16="http://schemas.microsoft.com/office/drawing/2014/main" id="{ED8053A1-C83A-47D9-5713-3B6FD1805666}"/>
              </a:ext>
            </a:extLst>
          </p:cNvPr>
          <p:cNvCxnSpPr>
            <a:cxnSpLocks/>
          </p:cNvCxnSpPr>
          <p:nvPr/>
        </p:nvCxnSpPr>
        <p:spPr>
          <a:xfrm>
            <a:off x="1877875" y="3135336"/>
            <a:ext cx="9173114" cy="0"/>
          </a:xfrm>
          <a:prstGeom prst="line">
            <a:avLst/>
          </a:prstGeom>
          <a:ln w="1651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4BB568B-F63A-B621-06B0-C8CBFEA34FB0}"/>
              </a:ext>
            </a:extLst>
          </p:cNvPr>
          <p:cNvSpPr/>
          <p:nvPr/>
        </p:nvSpPr>
        <p:spPr>
          <a:xfrm>
            <a:off x="1877875" y="3329478"/>
            <a:ext cx="4364353" cy="1640732"/>
          </a:xfrm>
          <a:prstGeom prst="roundRect">
            <a:avLst>
              <a:gd name="adj" fmla="val 4030"/>
            </a:avLst>
          </a:prstGeom>
          <a:solidFill>
            <a:srgbClr val="C3DEB3"/>
          </a:solidFill>
          <a:ln w="38100">
            <a:noFill/>
            <a:prstDash val="sysDot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F199C8B5-8997-83FC-60CE-08F37D2C0F82}"/>
              </a:ext>
            </a:extLst>
          </p:cNvPr>
          <p:cNvSpPr/>
          <p:nvPr/>
        </p:nvSpPr>
        <p:spPr>
          <a:xfrm>
            <a:off x="6533264" y="3307558"/>
            <a:ext cx="4517725" cy="1662649"/>
          </a:xfrm>
          <a:prstGeom prst="roundRect">
            <a:avLst>
              <a:gd name="adj" fmla="val 4030"/>
            </a:avLst>
          </a:prstGeom>
          <a:solidFill>
            <a:srgbClr val="FFF6D6"/>
          </a:solidFill>
          <a:ln w="38100">
            <a:noFill/>
            <a:prstDash val="sysDash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tudy-design-025-text">
            <a:extLst>
              <a:ext uri="{FF2B5EF4-FFF2-40B4-BE49-F238E27FC236}">
                <a16:creationId xmlns:a16="http://schemas.microsoft.com/office/drawing/2014/main" id="{1E12D8CA-53CA-FA70-53A3-73F140039E06}"/>
              </a:ext>
            </a:extLst>
          </p:cNvPr>
          <p:cNvSpPr txBox="1"/>
          <p:nvPr/>
        </p:nvSpPr>
        <p:spPr>
          <a:xfrm>
            <a:off x="2467400" y="3487917"/>
            <a:ext cx="2234586" cy="2503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27" b="1" dirty="0">
                <a:solidFill>
                  <a:srgbClr val="243448"/>
                </a:solidFill>
                <a:latin typeface="Comic Sans MS" panose="030F0902030302020204" pitchFamily="66" charset="0"/>
              </a:rPr>
              <a:t>Repeated ablation · E3</a:t>
            </a:r>
          </a:p>
        </p:txBody>
      </p:sp>
      <p:sp>
        <p:nvSpPr>
          <p:cNvPr id="41" name="study-design-026-text">
            <a:extLst>
              <a:ext uri="{FF2B5EF4-FFF2-40B4-BE49-F238E27FC236}">
                <a16:creationId xmlns:a16="http://schemas.microsoft.com/office/drawing/2014/main" id="{E169C36F-6990-E42D-1623-DBF152E1496C}"/>
              </a:ext>
            </a:extLst>
          </p:cNvPr>
          <p:cNvSpPr txBox="1"/>
          <p:nvPr/>
        </p:nvSpPr>
        <p:spPr>
          <a:xfrm>
            <a:off x="2079094" y="3824786"/>
            <a:ext cx="1881925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Native vs. no-internal</a:t>
            </a:r>
          </a:p>
        </p:txBody>
      </p:sp>
      <p:sp>
        <p:nvSpPr>
          <p:cNvPr id="42" name="Vector element">
            <a:extLst>
              <a:ext uri="{FF2B5EF4-FFF2-40B4-BE49-F238E27FC236}">
                <a16:creationId xmlns:a16="http://schemas.microsoft.com/office/drawing/2014/main" id="{E2FE326F-9209-9045-2EE4-69F6451756B8}"/>
              </a:ext>
            </a:extLst>
          </p:cNvPr>
          <p:cNvSpPr>
            <a:spLocks noGrp="1"/>
          </p:cNvSpPr>
          <p:nvPr/>
        </p:nvSpPr>
        <p:spPr>
          <a:xfrm>
            <a:off x="2079093" y="4137608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D0F1C7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tudy-design-028-text">
            <a:extLst>
              <a:ext uri="{FF2B5EF4-FFF2-40B4-BE49-F238E27FC236}">
                <a16:creationId xmlns:a16="http://schemas.microsoft.com/office/drawing/2014/main" id="{B6658CE7-8728-CEA7-4DB2-4DF41004256D}"/>
              </a:ext>
            </a:extLst>
          </p:cNvPr>
          <p:cNvSpPr txBox="1"/>
          <p:nvPr/>
        </p:nvSpPr>
        <p:spPr>
          <a:xfrm>
            <a:off x="2297902" y="4258011"/>
            <a:ext cx="679673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1: reuse</a:t>
            </a:r>
          </a:p>
        </p:txBody>
      </p:sp>
      <p:sp>
        <p:nvSpPr>
          <p:cNvPr id="46" name="Vector element">
            <a:extLst>
              <a:ext uri="{FF2B5EF4-FFF2-40B4-BE49-F238E27FC236}">
                <a16:creationId xmlns:a16="http://schemas.microsoft.com/office/drawing/2014/main" id="{10891D5B-CDAB-54B9-C176-5BDB7339C0CB}"/>
              </a:ext>
            </a:extLst>
          </p:cNvPr>
          <p:cNvSpPr>
            <a:spLocks noGrp="1"/>
          </p:cNvSpPr>
          <p:nvPr/>
        </p:nvSpPr>
        <p:spPr>
          <a:xfrm>
            <a:off x="3504855" y="4137608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CAEAC2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tudy-design-028-text">
            <a:extLst>
              <a:ext uri="{FF2B5EF4-FFF2-40B4-BE49-F238E27FC236}">
                <a16:creationId xmlns:a16="http://schemas.microsoft.com/office/drawing/2014/main" id="{26A322B8-DDEE-9AF5-D5C3-14D0DD53D75B}"/>
              </a:ext>
            </a:extLst>
          </p:cNvPr>
          <p:cNvSpPr txBox="1"/>
          <p:nvPr/>
        </p:nvSpPr>
        <p:spPr>
          <a:xfrm>
            <a:off x="3723664" y="4258011"/>
            <a:ext cx="559449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2</a:t>
            </a:r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: </a:t>
            </a:r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new</a:t>
            </a:r>
            <a:endParaRPr sz="147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48" name="Vector element">
            <a:extLst>
              <a:ext uri="{FF2B5EF4-FFF2-40B4-BE49-F238E27FC236}">
                <a16:creationId xmlns:a16="http://schemas.microsoft.com/office/drawing/2014/main" id="{7BC0C10F-E0A8-E52F-D189-D219F68E5CD2}"/>
              </a:ext>
            </a:extLst>
          </p:cNvPr>
          <p:cNvSpPr>
            <a:spLocks noGrp="1"/>
          </p:cNvSpPr>
          <p:nvPr/>
        </p:nvSpPr>
        <p:spPr>
          <a:xfrm>
            <a:off x="4930618" y="4137608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CAEAC2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tudy-design-028-text">
            <a:extLst>
              <a:ext uri="{FF2B5EF4-FFF2-40B4-BE49-F238E27FC236}">
                <a16:creationId xmlns:a16="http://schemas.microsoft.com/office/drawing/2014/main" id="{2F1DD902-5C09-C1D7-97C8-911F0A0B8459}"/>
              </a:ext>
            </a:extLst>
          </p:cNvPr>
          <p:cNvSpPr txBox="1"/>
          <p:nvPr/>
        </p:nvSpPr>
        <p:spPr>
          <a:xfrm>
            <a:off x="5149427" y="4258011"/>
            <a:ext cx="559449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3</a:t>
            </a:r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: </a:t>
            </a:r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new</a:t>
            </a:r>
            <a:endParaRPr sz="147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50" name="study-design-033-text">
            <a:extLst>
              <a:ext uri="{FF2B5EF4-FFF2-40B4-BE49-F238E27FC236}">
                <a16:creationId xmlns:a16="http://schemas.microsoft.com/office/drawing/2014/main" id="{8610C2AA-9756-0ABD-DA63-0527418ECC2C}"/>
              </a:ext>
            </a:extLst>
          </p:cNvPr>
          <p:cNvSpPr txBox="1"/>
          <p:nvPr/>
        </p:nvSpPr>
        <p:spPr>
          <a:xfrm>
            <a:off x="2079093" y="4678872"/>
            <a:ext cx="2616101" cy="23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23" b="1" dirty="0">
                <a:solidFill>
                  <a:srgbClr val="243448"/>
                </a:solidFill>
                <a:latin typeface="Comic Sans MS" panose="030F0902030302020204" pitchFamily="66" charset="0"/>
              </a:rPr>
              <a:t>72 cells: 24 reused + 48 new</a:t>
            </a:r>
          </a:p>
        </p:txBody>
      </p:sp>
      <p:sp>
        <p:nvSpPr>
          <p:cNvPr id="52" name="study-design-034-text">
            <a:extLst>
              <a:ext uri="{FF2B5EF4-FFF2-40B4-BE49-F238E27FC236}">
                <a16:creationId xmlns:a16="http://schemas.microsoft.com/office/drawing/2014/main" id="{CC64F0BB-8848-36C9-85AA-1CC6143FA7E2}"/>
              </a:ext>
            </a:extLst>
          </p:cNvPr>
          <p:cNvSpPr txBox="1"/>
          <p:nvPr/>
        </p:nvSpPr>
        <p:spPr>
          <a:xfrm>
            <a:off x="7144678" y="3512969"/>
            <a:ext cx="2115964" cy="2503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27" b="1" dirty="0">
                <a:solidFill>
                  <a:srgbClr val="243448"/>
                </a:solidFill>
                <a:latin typeface="Comic Sans MS" panose="030F0902030302020204" pitchFamily="66" charset="0"/>
              </a:rPr>
              <a:t>Model sensitivity · E4</a:t>
            </a:r>
          </a:p>
        </p:txBody>
      </p:sp>
      <p:sp>
        <p:nvSpPr>
          <p:cNvPr id="54" name="study-design-035-text">
            <a:extLst>
              <a:ext uri="{FF2B5EF4-FFF2-40B4-BE49-F238E27FC236}">
                <a16:creationId xmlns:a16="http://schemas.microsoft.com/office/drawing/2014/main" id="{0E66547E-D195-4394-82C3-E029E60AA20F}"/>
              </a:ext>
            </a:extLst>
          </p:cNvPr>
          <p:cNvSpPr txBox="1"/>
          <p:nvPr/>
        </p:nvSpPr>
        <p:spPr>
          <a:xfrm>
            <a:off x="6762724" y="3824786"/>
            <a:ext cx="2131994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Native only · 2-reply cap</a:t>
            </a:r>
          </a:p>
        </p:txBody>
      </p:sp>
      <p:sp>
        <p:nvSpPr>
          <p:cNvPr id="55" name="Vector element">
            <a:extLst>
              <a:ext uri="{FF2B5EF4-FFF2-40B4-BE49-F238E27FC236}">
                <a16:creationId xmlns:a16="http://schemas.microsoft.com/office/drawing/2014/main" id="{3BD9E6AE-C8DC-4F77-D52E-465084A5A737}"/>
              </a:ext>
            </a:extLst>
          </p:cNvPr>
          <p:cNvSpPr>
            <a:spLocks noGrp="1"/>
          </p:cNvSpPr>
          <p:nvPr/>
        </p:nvSpPr>
        <p:spPr>
          <a:xfrm>
            <a:off x="6736955" y="4149844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FCEEBC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6" name="study-design-028-text">
            <a:extLst>
              <a:ext uri="{FF2B5EF4-FFF2-40B4-BE49-F238E27FC236}">
                <a16:creationId xmlns:a16="http://schemas.microsoft.com/office/drawing/2014/main" id="{E8B9C0CA-6B18-7187-73DC-E1E61B267D51}"/>
              </a:ext>
            </a:extLst>
          </p:cNvPr>
          <p:cNvSpPr txBox="1"/>
          <p:nvPr/>
        </p:nvSpPr>
        <p:spPr>
          <a:xfrm>
            <a:off x="6790035" y="4270247"/>
            <a:ext cx="1024319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GPT-6-Luna</a:t>
            </a:r>
            <a:endParaRPr sz="147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57" name="Vector element">
            <a:extLst>
              <a:ext uri="{FF2B5EF4-FFF2-40B4-BE49-F238E27FC236}">
                <a16:creationId xmlns:a16="http://schemas.microsoft.com/office/drawing/2014/main" id="{5E3060C7-3681-E37D-1889-FA89801DE23A}"/>
              </a:ext>
            </a:extLst>
          </p:cNvPr>
          <p:cNvSpPr>
            <a:spLocks noGrp="1"/>
          </p:cNvSpPr>
          <p:nvPr/>
        </p:nvSpPr>
        <p:spPr>
          <a:xfrm>
            <a:off x="8162717" y="4149844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FDEEBC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8" name="study-design-028-text">
            <a:extLst>
              <a:ext uri="{FF2B5EF4-FFF2-40B4-BE49-F238E27FC236}">
                <a16:creationId xmlns:a16="http://schemas.microsoft.com/office/drawing/2014/main" id="{9ED0B3C5-F93F-8447-DBAE-7871300AF07F}"/>
              </a:ext>
            </a:extLst>
          </p:cNvPr>
          <p:cNvSpPr txBox="1"/>
          <p:nvPr/>
        </p:nvSpPr>
        <p:spPr>
          <a:xfrm>
            <a:off x="8381526" y="4270247"/>
            <a:ext cx="755015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GLM-5.3</a:t>
            </a:r>
            <a:endParaRPr sz="147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59" name="Vector element">
            <a:extLst>
              <a:ext uri="{FF2B5EF4-FFF2-40B4-BE49-F238E27FC236}">
                <a16:creationId xmlns:a16="http://schemas.microsoft.com/office/drawing/2014/main" id="{1E96D474-6CBF-E846-B5E6-0D0F6EA7F95C}"/>
              </a:ext>
            </a:extLst>
          </p:cNvPr>
          <p:cNvSpPr>
            <a:spLocks noGrp="1"/>
          </p:cNvSpPr>
          <p:nvPr/>
        </p:nvSpPr>
        <p:spPr>
          <a:xfrm>
            <a:off x="9588480" y="4149844"/>
            <a:ext cx="1117293" cy="467151"/>
          </a:xfrm>
          <a:custGeom>
            <a:avLst/>
            <a:gdLst/>
            <a:ahLst/>
            <a:cxnLst/>
            <a:rect l="0" t="0" r="0" b="0"/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>
            <a:srgbClr val="FDEEBC"/>
          </a:solidFill>
          <a:ln w="0" cap="flat">
            <a:noFill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study-design-028-text">
            <a:extLst>
              <a:ext uri="{FF2B5EF4-FFF2-40B4-BE49-F238E27FC236}">
                <a16:creationId xmlns:a16="http://schemas.microsoft.com/office/drawing/2014/main" id="{98696AA1-3534-2E72-D1BB-1F4006115555}"/>
              </a:ext>
            </a:extLst>
          </p:cNvPr>
          <p:cNvSpPr txBox="1"/>
          <p:nvPr/>
        </p:nvSpPr>
        <p:spPr>
          <a:xfrm>
            <a:off x="9800942" y="4164307"/>
            <a:ext cx="755015" cy="4526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GLM-5.3</a:t>
            </a:r>
          </a:p>
          <a:p>
            <a:pPr algn="ctr"/>
            <a:r>
              <a:rPr lang="en-US" altLang="zh-CN"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Flash</a:t>
            </a:r>
            <a:endParaRPr sz="1471" dirty="0">
              <a:solidFill>
                <a:srgbClr val="617084"/>
              </a:solidFill>
              <a:latin typeface="Comic Sans MS" panose="030F0902030302020204" pitchFamily="66" charset="0"/>
            </a:endParaRPr>
          </a:p>
        </p:txBody>
      </p:sp>
      <p:sp>
        <p:nvSpPr>
          <p:cNvPr id="62" name="study-design-043-text">
            <a:extLst>
              <a:ext uri="{FF2B5EF4-FFF2-40B4-BE49-F238E27FC236}">
                <a16:creationId xmlns:a16="http://schemas.microsoft.com/office/drawing/2014/main" id="{9104D78E-8DDA-06C3-0BF9-118B112E9598}"/>
              </a:ext>
            </a:extLst>
          </p:cNvPr>
          <p:cNvSpPr txBox="1"/>
          <p:nvPr/>
        </p:nvSpPr>
        <p:spPr>
          <a:xfrm>
            <a:off x="6756372" y="4678872"/>
            <a:ext cx="2643352" cy="23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23" b="1" dirty="0">
                <a:solidFill>
                  <a:srgbClr val="243448"/>
                </a:solidFill>
                <a:latin typeface="Comic Sans MS" panose="030F0902030302020204" pitchFamily="66" charset="0"/>
              </a:rPr>
              <a:t>36 cells: 12 inputs × 3 models</a:t>
            </a:r>
          </a:p>
        </p:txBody>
      </p:sp>
      <p:sp>
        <p:nvSpPr>
          <p:cNvPr id="63" name="study-design-044-box">
            <a:extLst>
              <a:ext uri="{FF2B5EF4-FFF2-40B4-BE49-F238E27FC236}">
                <a16:creationId xmlns:a16="http://schemas.microsoft.com/office/drawing/2014/main" id="{2690B2EF-A195-D7E7-1F47-E301E25D07A4}"/>
              </a:ext>
            </a:extLst>
          </p:cNvPr>
          <p:cNvSpPr/>
          <p:nvPr/>
        </p:nvSpPr>
        <p:spPr>
          <a:xfrm>
            <a:off x="1877875" y="5124333"/>
            <a:ext cx="9173114" cy="703385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20320">
            <a:noFill/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8"/>
          </a:p>
        </p:txBody>
      </p:sp>
      <p:sp>
        <p:nvSpPr>
          <p:cNvPr id="64" name="study-design-045-text">
            <a:extLst>
              <a:ext uri="{FF2B5EF4-FFF2-40B4-BE49-F238E27FC236}">
                <a16:creationId xmlns:a16="http://schemas.microsoft.com/office/drawing/2014/main" id="{F2DC5FFB-EEBF-2EC2-22A7-C02C7C004F22}"/>
              </a:ext>
            </a:extLst>
          </p:cNvPr>
          <p:cNvSpPr txBox="1"/>
          <p:nvPr/>
        </p:nvSpPr>
        <p:spPr>
          <a:xfrm>
            <a:off x="2079093" y="5209670"/>
            <a:ext cx="1328056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b="1" dirty="0" err="1">
                <a:solidFill>
                  <a:srgbClr val="243448"/>
                </a:solidFill>
                <a:latin typeface="Comic Sans MS" panose="030F0902030302020204" pitchFamily="66" charset="0"/>
              </a:rPr>
              <a:t>CodeQL</a:t>
            </a:r>
            <a:r>
              <a:rPr sz="1731" b="1" dirty="0">
                <a:solidFill>
                  <a:srgbClr val="243448"/>
                </a:solidFill>
                <a:latin typeface="Comic Sans MS" panose="030F0902030302020204" pitchFamily="66" charset="0"/>
              </a:rPr>
              <a:t> · E2</a:t>
            </a:r>
          </a:p>
        </p:txBody>
      </p:sp>
      <p:sp>
        <p:nvSpPr>
          <p:cNvPr id="65" name="study-design-047-text">
            <a:extLst>
              <a:ext uri="{FF2B5EF4-FFF2-40B4-BE49-F238E27FC236}">
                <a16:creationId xmlns:a16="http://schemas.microsoft.com/office/drawing/2014/main" id="{BB81759F-8917-19B5-F183-4300B6E5AA3E}"/>
              </a:ext>
            </a:extLst>
          </p:cNvPr>
          <p:cNvSpPr txBox="1"/>
          <p:nvPr/>
        </p:nvSpPr>
        <p:spPr>
          <a:xfrm>
            <a:off x="2079093" y="5516976"/>
            <a:ext cx="4531690" cy="22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71" dirty="0">
                <a:solidFill>
                  <a:srgbClr val="617084"/>
                </a:solidFill>
                <a:latin typeface="Comic Sans MS" panose="030F0902030302020204" pitchFamily="66" charset="0"/>
              </a:rPr>
              <a:t>Separate case; not pooled with the CSA comparison</a:t>
            </a:r>
          </a:p>
        </p:txBody>
      </p:sp>
      <p:sp>
        <p:nvSpPr>
          <p:cNvPr id="66" name="study-design-046-text">
            <a:extLst>
              <a:ext uri="{FF2B5EF4-FFF2-40B4-BE49-F238E27FC236}">
                <a16:creationId xmlns:a16="http://schemas.microsoft.com/office/drawing/2014/main" id="{71A73AD9-7052-9A67-F770-0F0C64A5F45E}"/>
              </a:ext>
            </a:extLst>
          </p:cNvPr>
          <p:cNvSpPr txBox="1"/>
          <p:nvPr/>
        </p:nvSpPr>
        <p:spPr>
          <a:xfrm>
            <a:off x="8872336" y="5209670"/>
            <a:ext cx="2022990" cy="266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31" b="1" dirty="0">
                <a:solidFill>
                  <a:srgbClr val="243448"/>
                </a:solidFill>
                <a:latin typeface="Comic Sans MS" panose="030F0902030302020204" pitchFamily="66" charset="0"/>
              </a:rPr>
              <a:t>1 query × 3 decodes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3807BE7C-9CB8-EF0B-D9BD-6894570DE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879" y="1918701"/>
            <a:ext cx="267993" cy="267993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8B65F221-D983-5D91-AFE2-B85E959D6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0595" y="3447094"/>
            <a:ext cx="377692" cy="377692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997B3899-5B67-C649-6AC3-5FC001E8E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91350" y="3453282"/>
            <a:ext cx="319659" cy="31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3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5217</TotalTime>
  <Words>4630</Words>
  <Application>Microsoft Macintosh PowerPoint</Application>
  <PresentationFormat>宽屏</PresentationFormat>
  <Paragraphs>897</Paragraphs>
  <Slides>19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等线</vt:lpstr>
      <vt:lpstr>等线 Light</vt:lpstr>
      <vt:lpstr>Nanum Brush Script</vt:lpstr>
      <vt:lpstr>UD Digi Kyokasho NP-B</vt:lpstr>
      <vt:lpstr>Yuanti TC</vt:lpstr>
      <vt:lpstr>Arial</vt:lpstr>
      <vt:lpstr>Calibri</vt:lpstr>
      <vt:lpstr>Comic Sans MS</vt:lpstr>
      <vt:lpstr>Consolas</vt:lpstr>
      <vt:lpstr>Courier New</vt:lpstr>
      <vt:lpstr>Fira Code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SemWeaver author-redrawn figures</dc:title>
  <dc:creator/>
  <cp:lastModifiedBy/>
  <cp:revision>58</cp:revision>
  <dcterms:created xsi:type="dcterms:W3CDTF">2026-06-27T03:00:01Z</dcterms:created>
  <dcterms:modified xsi:type="dcterms:W3CDTF">2026-09-30T07:48:09Z</dcterms:modified>
  <dc:subject/>
  <dc:description/>
  <cp:keywords/>
  <dc:identifier/>
  <cp:category/>
</cp:coreProperties>
</file>